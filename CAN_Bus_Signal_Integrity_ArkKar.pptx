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sp>
      <p:sp>
        <p:nvSpPr>
          <p:cNvPr id="3" name="Shape 1"/>
          <p:cNvSpPr/>
          <p:nvPr/>
        </p:nvSpPr>
        <p:spPr>
          <a:xfrm>
            <a:off x="0" y="54864"/>
            <a:ext cx="73152" cy="5088636"/>
          </a:xfrm>
          <a:prstGeom prst="rect">
            <a:avLst/>
          </a:prstGeom>
          <a:solidFill>
            <a:srgbClr val="0E7490"/>
          </a:solidFill>
          <a:ln w="12700">
            <a:solidFill>
              <a:srgbClr val="0E7490"/>
            </a:solidFill>
            <a:prstDash val="solid"/>
          </a:ln>
        </p:spPr>
      </p:sp>
      <p:sp>
        <p:nvSpPr>
          <p:cNvPr id="4" name="Text 2"/>
          <p:cNvSpPr/>
          <p:nvPr/>
        </p:nvSpPr>
        <p:spPr>
          <a:xfrm>
            <a:off x="228600" y="640080"/>
            <a:ext cx="86868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CAN Bus Signal Integrity</a:t>
            </a:r>
            <a:endParaRPr lang="en-US" sz="3800" dirty="0"/>
          </a:p>
        </p:txBody>
      </p:sp>
      <p:sp>
        <p:nvSpPr>
          <p:cNvPr id="5" name="Text 3"/>
          <p:cNvSpPr/>
          <p:nvPr/>
        </p:nvSpPr>
        <p:spPr>
          <a:xfrm>
            <a:off x="228600" y="1508760"/>
            <a:ext cx="8686800" cy="685800"/>
          </a:xfrm>
          <a:prstGeom prst="rect">
            <a:avLst/>
          </a:prstGeom>
          <a:noFill/>
          <a:ln/>
        </p:spPr>
        <p:txBody>
          <a:bodyPr wrap="square" rtlCol="0" anchor="ctr"/>
          <a:lstStyle/>
          <a:p>
            <a:pPr algn="ctr" indent="0" marL="0">
              <a:buNone/>
            </a:pPr>
            <a:r>
              <a:rPr lang="en-US" sz="2800" dirty="0">
                <a:solidFill>
                  <a:srgbClr val="06B6D4"/>
                </a:solidFill>
                <a:latin typeface="Calibri" pitchFamily="34" charset="0"/>
                <a:ea typeface="Calibri" pitchFamily="34" charset="-122"/>
                <a:cs typeface="Calibri" pitchFamily="34" charset="-120"/>
              </a:rPr>
              <a:t>under High-Voltage Transients</a:t>
            </a:r>
            <a:endParaRPr lang="en-US" sz="2800" dirty="0"/>
          </a:p>
        </p:txBody>
      </p:sp>
      <p:sp>
        <p:nvSpPr>
          <p:cNvPr id="6" name="Shape 4"/>
          <p:cNvSpPr/>
          <p:nvPr/>
        </p:nvSpPr>
        <p:spPr>
          <a:xfrm>
            <a:off x="2286000" y="2331720"/>
            <a:ext cx="4572000" cy="36576"/>
          </a:xfrm>
          <a:prstGeom prst="rect">
            <a:avLst/>
          </a:prstGeom>
          <a:solidFill>
            <a:srgbClr val="0E7490"/>
          </a:solidFill>
          <a:ln w="12700">
            <a:solidFill>
              <a:srgbClr val="0E7490"/>
            </a:solidFill>
            <a:prstDash val="solid"/>
          </a:ln>
        </p:spPr>
      </p:sp>
      <p:sp>
        <p:nvSpPr>
          <p:cNvPr id="7" name="Text 5"/>
          <p:cNvSpPr/>
          <p:nvPr/>
        </p:nvSpPr>
        <p:spPr>
          <a:xfrm>
            <a:off x="457200" y="2514600"/>
            <a:ext cx="8229600" cy="502920"/>
          </a:xfrm>
          <a:prstGeom prst="rect">
            <a:avLst/>
          </a:prstGeom>
          <a:noFill/>
          <a:ln/>
        </p:spPr>
        <p:txBody>
          <a:bodyPr wrap="square" rtlCol="0" anchor="ctr"/>
          <a:lstStyle/>
          <a:p>
            <a:pPr algn="ctr" indent="0" marL="0">
              <a:buNone/>
            </a:pPr>
            <a:r>
              <a:rPr lang="en-US" sz="1600" i="1" dirty="0">
                <a:solidFill>
                  <a:srgbClr val="E2F0F7"/>
                </a:solidFill>
                <a:latin typeface="Calibri" pitchFamily="34" charset="0"/>
                <a:ea typeface="Calibri" pitchFamily="34" charset="-122"/>
                <a:cs typeface="Calibri" pitchFamily="34" charset="-120"/>
              </a:rPr>
              <a:t>Filtering and Shielding Techniques for EV CAN Communication</a:t>
            </a:r>
            <a:endParaRPr lang="en-US" sz="1600" dirty="0"/>
          </a:p>
        </p:txBody>
      </p:sp>
      <p:sp>
        <p:nvSpPr>
          <p:cNvPr id="8" name="Text 6"/>
          <p:cNvSpPr/>
          <p:nvPr/>
        </p:nvSpPr>
        <p:spPr>
          <a:xfrm>
            <a:off x="1371600" y="3383280"/>
            <a:ext cx="2743200" cy="36576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By: Arka Kar</a:t>
            </a:r>
            <a:endParaRPr lang="en-US" sz="1400" dirty="0"/>
          </a:p>
        </p:txBody>
      </p:sp>
      <p:sp>
        <p:nvSpPr>
          <p:cNvPr id="9" name="Text 7"/>
          <p:cNvSpPr/>
          <p:nvPr/>
        </p:nvSpPr>
        <p:spPr>
          <a:xfrm>
            <a:off x="4572000" y="3383280"/>
            <a:ext cx="4114800" cy="36576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CONTINUUM PS-2  |  UDYAM '26</a:t>
            </a:r>
            <a:endParaRPr lang="en-US" sz="1400" dirty="0"/>
          </a:p>
        </p:txBody>
      </p:sp>
      <p:sp>
        <p:nvSpPr>
          <p:cNvPr id="10" name="Text 8"/>
          <p:cNvSpPr/>
          <p:nvPr/>
        </p:nvSpPr>
        <p:spPr>
          <a:xfrm>
            <a:off x="228600" y="4480560"/>
            <a:ext cx="8686800" cy="365760"/>
          </a:xfrm>
          <a:prstGeom prst="rect">
            <a:avLst/>
          </a:prstGeom>
          <a:noFill/>
          <a:ln/>
        </p:spPr>
        <p:txBody>
          <a:bodyPr wrap="square" rtlCol="0" anchor="ctr"/>
          <a:lstStyle/>
          <a:p>
            <a:pPr algn="ctr" indent="0" marL="0">
              <a:buNone/>
            </a:pPr>
            <a:r>
              <a:rPr lang="en-US" sz="1100" b="1" dirty="0">
                <a:solidFill>
                  <a:srgbClr val="0E7490"/>
                </a:solidFill>
                <a:latin typeface="Calibri" pitchFamily="34" charset="0"/>
                <a:ea typeface="Calibri" pitchFamily="34" charset="-122"/>
                <a:cs typeface="Calibri" pitchFamily="34" charset="-120"/>
              </a:rPr>
              <a:t>Electronics Engineering Society</a:t>
            </a:r>
            <a:endParaRPr lang="en-US" sz="1100" dirty="0"/>
          </a:p>
        </p:txBody>
      </p:sp>
      <p:sp>
        <p:nvSpPr>
          <p:cNvPr id="11" name="Shape 9"/>
          <p:cNvSpPr/>
          <p:nvPr/>
        </p:nvSpPr>
        <p:spPr>
          <a:xfrm>
            <a:off x="0" y="5088636"/>
            <a:ext cx="9144000" cy="54864"/>
          </a:xfrm>
          <a:prstGeom prst="rect">
            <a:avLst/>
          </a:prstGeom>
          <a:solidFill>
            <a:srgbClr val="06B6D4"/>
          </a:solidFill>
          <a:ln w="12700">
            <a:solidFill>
              <a:srgbClr val="06B6D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Problem</a:t>
            </a:r>
            <a:endParaRPr lang="en-US" sz="3000" dirty="0"/>
          </a:p>
        </p:txBody>
      </p:sp>
      <p:sp>
        <p:nvSpPr>
          <p:cNvPr id="3" name="Shape 1"/>
          <p:cNvSpPr/>
          <p:nvPr/>
        </p:nvSpPr>
        <p:spPr>
          <a:xfrm>
            <a:off x="365760" y="777240"/>
            <a:ext cx="1645920" cy="36576"/>
          </a:xfrm>
          <a:prstGeom prst="rect">
            <a:avLst/>
          </a:prstGeom>
          <a:solidFill>
            <a:srgbClr val="06B6D4"/>
          </a:solidFill>
          <a:ln w="12700">
            <a:solidFill>
              <a:srgbClr val="06B6D4"/>
            </a:solidFill>
            <a:prstDash val="solid"/>
          </a:ln>
        </p:spPr>
      </p:sp>
      <p:sp>
        <p:nvSpPr>
          <p:cNvPr id="4" name="Shape 2"/>
          <p:cNvSpPr/>
          <p:nvPr/>
        </p:nvSpPr>
        <p:spPr>
          <a:xfrm>
            <a:off x="274320" y="960120"/>
            <a:ext cx="4023360" cy="3749040"/>
          </a:xfrm>
          <a:prstGeom prst="rect">
            <a:avLst/>
          </a:prstGeom>
          <a:solidFill>
            <a:srgbClr val="112240"/>
          </a:solidFill>
          <a:ln w="12700">
            <a:solidFill>
              <a:srgbClr val="0E7490"/>
            </a:solidFill>
            <a:prstDash val="solid"/>
          </a:ln>
        </p:spPr>
      </p:sp>
      <p:sp>
        <p:nvSpPr>
          <p:cNvPr id="5" name="Text 3"/>
          <p:cNvSpPr/>
          <p:nvPr/>
        </p:nvSpPr>
        <p:spPr>
          <a:xfrm>
            <a:off x="457200" y="1051560"/>
            <a:ext cx="3657600" cy="411480"/>
          </a:xfrm>
          <a:prstGeom prst="rect">
            <a:avLst/>
          </a:prstGeom>
          <a:noFill/>
          <a:ln/>
        </p:spPr>
        <p:txBody>
          <a:bodyPr wrap="square" rtlCol="0" anchor="ctr"/>
          <a:lstStyle/>
          <a:p>
            <a:pPr indent="0" marL="0">
              <a:buNone/>
            </a:pPr>
            <a:r>
              <a:rPr lang="en-US" sz="1500" b="1" dirty="0">
                <a:solidFill>
                  <a:srgbClr val="06B6D4"/>
                </a:solidFill>
                <a:latin typeface="Calibri" pitchFamily="34" charset="0"/>
                <a:ea typeface="Calibri" pitchFamily="34" charset="-122"/>
                <a:cs typeface="Calibri" pitchFamily="34" charset="-120"/>
              </a:rPr>
              <a:t>CAN Bus in EVs</a:t>
            </a:r>
            <a:endParaRPr lang="en-US" sz="1500" dirty="0"/>
          </a:p>
        </p:txBody>
      </p:sp>
      <p:sp>
        <p:nvSpPr>
          <p:cNvPr id="6" name="Text 4"/>
          <p:cNvSpPr/>
          <p:nvPr/>
        </p:nvSpPr>
        <p:spPr>
          <a:xfrm>
            <a:off x="457200" y="1508760"/>
            <a:ext cx="3657600" cy="2926080"/>
          </a:xfrm>
          <a:prstGeom prst="rect">
            <a:avLst/>
          </a:prstGeom>
          <a:noFill/>
          <a:ln/>
        </p:spPr>
        <p:txBody>
          <a:bodyPr wrap="square" rtlCol="0" anchor="ctr"/>
          <a:lstStyle/>
          <a:p>
            <a:pPr indent="0" marL="0">
              <a:buNone/>
            </a:pPr>
            <a:r>
              <a:rPr lang="en-US" sz="1300" dirty="0">
                <a:solidFill>
                  <a:srgbClr val="E2F0F7"/>
                </a:solidFill>
                <a:latin typeface="Calibri" pitchFamily="34" charset="0"/>
                <a:ea typeface="Calibri" pitchFamily="34" charset="-122"/>
                <a:cs typeface="Calibri" pitchFamily="34" charset="-120"/>
              </a:rPr>
              <a:t>CAN (Controller Area Network) is the backbone communication protocol in electric vehicles, connecting ECUs, motor controllers, BMS, and sensors.</a:t>
            </a:r>
            <a:endParaRPr lang="en-US" sz="1300" dirty="0"/>
          </a:p>
          <a:p>
            <a:pPr indent="0" marL="0">
              <a:buNone/>
            </a:pPr>
            <a:endParaRPr lang="en-US" sz="1300" dirty="0"/>
          </a:p>
          <a:p>
            <a:pPr indent="0" marL="0">
              <a:buNone/>
            </a:pPr>
            <a:r>
              <a:rPr lang="en-US" sz="1300" dirty="0">
                <a:solidFill>
                  <a:srgbClr val="E2F0F7"/>
                </a:solidFill>
                <a:latin typeface="Calibri" pitchFamily="34" charset="0"/>
                <a:ea typeface="Calibri" pitchFamily="34" charset="-122"/>
                <a:cs typeface="Calibri" pitchFamily="34" charset="-120"/>
              </a:rPr>
              <a:t>In EVs, CAN wires are routed near:</a:t>
            </a:r>
            <a:endParaRPr lang="en-US" sz="1300" dirty="0"/>
          </a:p>
          <a:p>
            <a:pPr marL="342900" indent="-342900">
              <a:buSzPct val="100000"/>
              <a:buChar char="•"/>
            </a:pPr>
            <a:r>
              <a:rPr lang="en-US" sz="1300" dirty="0">
                <a:solidFill>
                  <a:srgbClr val="E2F0F7"/>
                </a:solidFill>
                <a:latin typeface="Calibri" pitchFamily="34" charset="0"/>
                <a:ea typeface="Calibri" pitchFamily="34" charset="-122"/>
                <a:cs typeface="Calibri" pitchFamily="34" charset="-120"/>
              </a:rPr>
              <a:t>Motor inverters (high dV/dt, dI/dt)</a:t>
            </a:r>
            <a:endParaRPr lang="en-US" sz="1300" dirty="0"/>
          </a:p>
          <a:p>
            <a:pPr marL="342900" indent="-342900">
              <a:buSzPct val="100000"/>
              <a:buChar char="•"/>
            </a:pPr>
            <a:r>
              <a:rPr lang="en-US" sz="1300" dirty="0">
                <a:solidFill>
                  <a:srgbClr val="E2F0F7"/>
                </a:solidFill>
                <a:latin typeface="Calibri" pitchFamily="34" charset="0"/>
                <a:ea typeface="Calibri" pitchFamily="34" charset="-122"/>
                <a:cs typeface="Calibri" pitchFamily="34" charset="-120"/>
              </a:rPr>
              <a:t>DC-DC converters</a:t>
            </a:r>
            <a:endParaRPr lang="en-US" sz="1300" dirty="0"/>
          </a:p>
          <a:p>
            <a:pPr marL="342900" indent="-342900">
              <a:buSzPct val="100000"/>
              <a:buChar char="•"/>
            </a:pPr>
            <a:r>
              <a:rPr lang="en-US" sz="1300" dirty="0">
                <a:solidFill>
                  <a:srgbClr val="E2F0F7"/>
                </a:solidFill>
                <a:latin typeface="Calibri" pitchFamily="34" charset="0"/>
                <a:ea typeface="Calibri" pitchFamily="34" charset="-122"/>
                <a:cs typeface="Calibri" pitchFamily="34" charset="-120"/>
              </a:rPr>
              <a:t>Onboard chargers</a:t>
            </a:r>
            <a:endParaRPr lang="en-US" sz="1300" dirty="0"/>
          </a:p>
        </p:txBody>
      </p:sp>
      <p:sp>
        <p:nvSpPr>
          <p:cNvPr id="7" name="Shape 5"/>
          <p:cNvSpPr/>
          <p:nvPr/>
        </p:nvSpPr>
        <p:spPr>
          <a:xfrm>
            <a:off x="4480560" y="960120"/>
            <a:ext cx="4389120" cy="3749040"/>
          </a:xfrm>
          <a:prstGeom prst="rect">
            <a:avLst/>
          </a:prstGeom>
          <a:solidFill>
            <a:srgbClr val="112240"/>
          </a:solidFill>
          <a:ln w="12700">
            <a:solidFill>
              <a:srgbClr val="0E7490"/>
            </a:solidFill>
            <a:prstDash val="solid"/>
          </a:ln>
        </p:spPr>
      </p:sp>
      <p:sp>
        <p:nvSpPr>
          <p:cNvPr id="8" name="Text 6"/>
          <p:cNvSpPr/>
          <p:nvPr/>
        </p:nvSpPr>
        <p:spPr>
          <a:xfrm>
            <a:off x="4663440" y="1051560"/>
            <a:ext cx="4023360" cy="411480"/>
          </a:xfrm>
          <a:prstGeom prst="rect">
            <a:avLst/>
          </a:prstGeom>
          <a:noFill/>
          <a:ln/>
        </p:spPr>
        <p:txBody>
          <a:bodyPr wrap="square" rtlCol="0" anchor="ctr"/>
          <a:lstStyle/>
          <a:p>
            <a:pPr indent="0" marL="0">
              <a:buNone/>
            </a:pPr>
            <a:r>
              <a:rPr lang="en-US" sz="1500" b="1" dirty="0">
                <a:solidFill>
                  <a:srgbClr val="06B6D4"/>
                </a:solidFill>
                <a:latin typeface="Calibri" pitchFamily="34" charset="0"/>
                <a:ea typeface="Calibri" pitchFamily="34" charset="-122"/>
                <a:cs typeface="Calibri" pitchFamily="34" charset="-120"/>
              </a:rPr>
              <a:t>EMI Coupling Mechanisms</a:t>
            </a:r>
            <a:endParaRPr lang="en-US" sz="1500" dirty="0"/>
          </a:p>
        </p:txBody>
      </p:sp>
      <p:sp>
        <p:nvSpPr>
          <p:cNvPr id="9" name="Shape 7"/>
          <p:cNvSpPr/>
          <p:nvPr/>
        </p:nvSpPr>
        <p:spPr>
          <a:xfrm>
            <a:off x="4663440" y="1554480"/>
            <a:ext cx="457200" cy="457200"/>
          </a:xfrm>
          <a:prstGeom prst="rect">
            <a:avLst/>
          </a:prstGeom>
          <a:solidFill>
            <a:srgbClr val="0E7490"/>
          </a:solidFill>
          <a:ln w="12700">
            <a:solidFill>
              <a:srgbClr val="0E7490"/>
            </a:solidFill>
            <a:prstDash val="solid"/>
          </a:ln>
        </p:spPr>
      </p:sp>
      <p:sp>
        <p:nvSpPr>
          <p:cNvPr id="10" name="Text 8"/>
          <p:cNvSpPr/>
          <p:nvPr/>
        </p:nvSpPr>
        <p:spPr>
          <a:xfrm>
            <a:off x="4663440" y="155448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5257800" y="1572768"/>
            <a:ext cx="3383280" cy="25603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Conducted</a:t>
            </a:r>
            <a:endParaRPr lang="en-US" sz="1300" dirty="0"/>
          </a:p>
        </p:txBody>
      </p:sp>
      <p:sp>
        <p:nvSpPr>
          <p:cNvPr id="12" name="Text 10"/>
          <p:cNvSpPr/>
          <p:nvPr/>
        </p:nvSpPr>
        <p:spPr>
          <a:xfrm>
            <a:off x="5257800" y="1801368"/>
            <a:ext cx="3383280" cy="347472"/>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Shared supply/ground paths carry noise directly</a:t>
            </a:r>
            <a:endParaRPr lang="en-US" sz="1100" dirty="0"/>
          </a:p>
        </p:txBody>
      </p:sp>
      <p:sp>
        <p:nvSpPr>
          <p:cNvPr id="13" name="Shape 11"/>
          <p:cNvSpPr/>
          <p:nvPr/>
        </p:nvSpPr>
        <p:spPr>
          <a:xfrm>
            <a:off x="4663440" y="2560320"/>
            <a:ext cx="457200" cy="457200"/>
          </a:xfrm>
          <a:prstGeom prst="rect">
            <a:avLst/>
          </a:prstGeom>
          <a:solidFill>
            <a:srgbClr val="0E7490"/>
          </a:solidFill>
          <a:ln w="12700">
            <a:solidFill>
              <a:srgbClr val="0E7490"/>
            </a:solidFill>
            <a:prstDash val="solid"/>
          </a:ln>
        </p:spPr>
      </p:sp>
      <p:sp>
        <p:nvSpPr>
          <p:cNvPr id="14" name="Text 12"/>
          <p:cNvSpPr/>
          <p:nvPr/>
        </p:nvSpPr>
        <p:spPr>
          <a:xfrm>
            <a:off x="4663440" y="25603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5257800" y="2578608"/>
            <a:ext cx="3383280" cy="25603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Capacitive</a:t>
            </a:r>
            <a:endParaRPr lang="en-US" sz="1300" dirty="0"/>
          </a:p>
        </p:txBody>
      </p:sp>
      <p:sp>
        <p:nvSpPr>
          <p:cNvPr id="16" name="Text 14"/>
          <p:cNvSpPr/>
          <p:nvPr/>
        </p:nvSpPr>
        <p:spPr>
          <a:xfrm>
            <a:off x="5257800" y="2807208"/>
            <a:ext cx="3383280" cy="347472"/>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High-voltage switching nodes couple to CAN lines</a:t>
            </a:r>
            <a:endParaRPr lang="en-US" sz="1100" dirty="0"/>
          </a:p>
        </p:txBody>
      </p:sp>
      <p:sp>
        <p:nvSpPr>
          <p:cNvPr id="17" name="Shape 15"/>
          <p:cNvSpPr/>
          <p:nvPr/>
        </p:nvSpPr>
        <p:spPr>
          <a:xfrm>
            <a:off x="4663440" y="3566160"/>
            <a:ext cx="457200" cy="457200"/>
          </a:xfrm>
          <a:prstGeom prst="rect">
            <a:avLst/>
          </a:prstGeom>
          <a:solidFill>
            <a:srgbClr val="0E7490"/>
          </a:solidFill>
          <a:ln w="12700">
            <a:solidFill>
              <a:srgbClr val="0E7490"/>
            </a:solidFill>
            <a:prstDash val="solid"/>
          </a:ln>
        </p:spPr>
      </p:sp>
      <p:sp>
        <p:nvSpPr>
          <p:cNvPr id="18" name="Text 16"/>
          <p:cNvSpPr/>
          <p:nvPr/>
        </p:nvSpPr>
        <p:spPr>
          <a:xfrm>
            <a:off x="4663440" y="356616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5257800" y="3584448"/>
            <a:ext cx="3383280" cy="25603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Inductive</a:t>
            </a:r>
            <a:endParaRPr lang="en-US" sz="1300" dirty="0"/>
          </a:p>
        </p:txBody>
      </p:sp>
      <p:sp>
        <p:nvSpPr>
          <p:cNvPr id="20" name="Text 18"/>
          <p:cNvSpPr/>
          <p:nvPr/>
        </p:nvSpPr>
        <p:spPr>
          <a:xfrm>
            <a:off x="5257800" y="3813048"/>
            <a:ext cx="3383280" cy="347472"/>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Magnetic fields from loop currents induce voltage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Target Performance Parameters</a:t>
            </a:r>
            <a:endParaRPr lang="en-US" sz="2800" dirty="0"/>
          </a:p>
        </p:txBody>
      </p:sp>
      <p:sp>
        <p:nvSpPr>
          <p:cNvPr id="3" name="Shape 1"/>
          <p:cNvSpPr/>
          <p:nvPr/>
        </p:nvSpPr>
        <p:spPr>
          <a:xfrm>
            <a:off x="365760" y="758952"/>
            <a:ext cx="2194560" cy="36576"/>
          </a:xfrm>
          <a:prstGeom prst="rect">
            <a:avLst/>
          </a:prstGeom>
          <a:solidFill>
            <a:srgbClr val="06B6D4"/>
          </a:solidFill>
          <a:ln w="12700">
            <a:solidFill>
              <a:srgbClr val="06B6D4"/>
            </a:solidFill>
            <a:prstDash val="solid"/>
          </a:ln>
        </p:spPr>
      </p:sp>
      <p:sp>
        <p:nvSpPr>
          <p:cNvPr id="4" name="Shape 2"/>
          <p:cNvSpPr/>
          <p:nvPr/>
        </p:nvSpPr>
        <p:spPr>
          <a:xfrm>
            <a:off x="274320" y="1005840"/>
            <a:ext cx="2743200" cy="1645920"/>
          </a:xfrm>
          <a:prstGeom prst="rect">
            <a:avLst/>
          </a:prstGeom>
          <a:solidFill>
            <a:srgbClr val="112240"/>
          </a:solidFill>
          <a:ln w="12700">
            <a:solidFill>
              <a:srgbClr val="0E7490"/>
            </a:solidFill>
            <a:prstDash val="solid"/>
          </a:ln>
        </p:spPr>
      </p:sp>
      <p:sp>
        <p:nvSpPr>
          <p:cNvPr id="5" name="Shape 3"/>
          <p:cNvSpPr/>
          <p:nvPr/>
        </p:nvSpPr>
        <p:spPr>
          <a:xfrm>
            <a:off x="274320" y="1005840"/>
            <a:ext cx="2743200" cy="320040"/>
          </a:xfrm>
          <a:prstGeom prst="rect">
            <a:avLst/>
          </a:prstGeom>
          <a:solidFill>
            <a:srgbClr val="0E7490"/>
          </a:solidFill>
          <a:ln w="12700">
            <a:solidFill>
              <a:srgbClr val="0E7490"/>
            </a:solidFill>
            <a:prstDash val="solid"/>
          </a:ln>
        </p:spPr>
      </p:sp>
      <p:sp>
        <p:nvSpPr>
          <p:cNvPr id="6" name="Text 4"/>
          <p:cNvSpPr/>
          <p:nvPr/>
        </p:nvSpPr>
        <p:spPr>
          <a:xfrm>
            <a:off x="274320" y="1005840"/>
            <a:ext cx="27432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BER</a:t>
            </a:r>
            <a:endParaRPr lang="en-US" sz="1200" dirty="0"/>
          </a:p>
        </p:txBody>
      </p:sp>
      <p:sp>
        <p:nvSpPr>
          <p:cNvPr id="7" name="Text 5"/>
          <p:cNvSpPr/>
          <p:nvPr/>
        </p:nvSpPr>
        <p:spPr>
          <a:xfrm>
            <a:off x="274320" y="1417320"/>
            <a:ext cx="2743200" cy="640080"/>
          </a:xfrm>
          <a:prstGeom prst="rect">
            <a:avLst/>
          </a:prstGeom>
          <a:noFill/>
          <a:ln/>
        </p:spPr>
        <p:txBody>
          <a:bodyPr wrap="square" rtlCol="0" anchor="ctr"/>
          <a:lstStyle/>
          <a:p>
            <a:pPr algn="ctr" indent="0" marL="0">
              <a:buNone/>
            </a:pPr>
            <a:r>
              <a:rPr lang="en-US" sz="2200" b="1" dirty="0">
                <a:solidFill>
                  <a:srgbClr val="06B6D4"/>
                </a:solidFill>
                <a:latin typeface="Calibri" pitchFamily="34" charset="0"/>
                <a:ea typeface="Calibri" pitchFamily="34" charset="-122"/>
                <a:cs typeface="Calibri" pitchFamily="34" charset="-120"/>
              </a:rPr>
              <a:t>≤ 10⁻⁹</a:t>
            </a:r>
            <a:endParaRPr lang="en-US" sz="2200" dirty="0"/>
          </a:p>
        </p:txBody>
      </p:sp>
      <p:sp>
        <p:nvSpPr>
          <p:cNvPr id="8" name="Text 6"/>
          <p:cNvSpPr/>
          <p:nvPr/>
        </p:nvSpPr>
        <p:spPr>
          <a:xfrm>
            <a:off x="274320" y="2103120"/>
            <a:ext cx="2743200" cy="45720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Bit Error Rate</a:t>
            </a:r>
            <a:endParaRPr lang="en-US" sz="1100" dirty="0"/>
          </a:p>
        </p:txBody>
      </p:sp>
      <p:sp>
        <p:nvSpPr>
          <p:cNvPr id="9" name="Shape 7"/>
          <p:cNvSpPr/>
          <p:nvPr/>
        </p:nvSpPr>
        <p:spPr>
          <a:xfrm>
            <a:off x="3200400" y="1005840"/>
            <a:ext cx="2743200" cy="1645920"/>
          </a:xfrm>
          <a:prstGeom prst="rect">
            <a:avLst/>
          </a:prstGeom>
          <a:solidFill>
            <a:srgbClr val="112240"/>
          </a:solidFill>
          <a:ln w="12700">
            <a:solidFill>
              <a:srgbClr val="0E7490"/>
            </a:solidFill>
            <a:prstDash val="solid"/>
          </a:ln>
        </p:spPr>
      </p:sp>
      <p:sp>
        <p:nvSpPr>
          <p:cNvPr id="10" name="Shape 8"/>
          <p:cNvSpPr/>
          <p:nvPr/>
        </p:nvSpPr>
        <p:spPr>
          <a:xfrm>
            <a:off x="3200400" y="1005840"/>
            <a:ext cx="2743200" cy="320040"/>
          </a:xfrm>
          <a:prstGeom prst="rect">
            <a:avLst/>
          </a:prstGeom>
          <a:solidFill>
            <a:srgbClr val="0E7490"/>
          </a:solidFill>
          <a:ln w="12700">
            <a:solidFill>
              <a:srgbClr val="0E7490"/>
            </a:solidFill>
            <a:prstDash val="solid"/>
          </a:ln>
        </p:spPr>
      </p:sp>
      <p:sp>
        <p:nvSpPr>
          <p:cNvPr id="11" name="Text 9"/>
          <p:cNvSpPr/>
          <p:nvPr/>
        </p:nvSpPr>
        <p:spPr>
          <a:xfrm>
            <a:off x="3200400" y="1005840"/>
            <a:ext cx="27432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CM Noise</a:t>
            </a:r>
            <a:endParaRPr lang="en-US" sz="1200" dirty="0"/>
          </a:p>
        </p:txBody>
      </p:sp>
      <p:sp>
        <p:nvSpPr>
          <p:cNvPr id="12" name="Text 10"/>
          <p:cNvSpPr/>
          <p:nvPr/>
        </p:nvSpPr>
        <p:spPr>
          <a:xfrm>
            <a:off x="3200400" y="1417320"/>
            <a:ext cx="2743200" cy="640080"/>
          </a:xfrm>
          <a:prstGeom prst="rect">
            <a:avLst/>
          </a:prstGeom>
          <a:noFill/>
          <a:ln/>
        </p:spPr>
        <p:txBody>
          <a:bodyPr wrap="square" rtlCol="0" anchor="ctr"/>
          <a:lstStyle/>
          <a:p>
            <a:pPr algn="ctr" indent="0" marL="0">
              <a:buNone/>
            </a:pPr>
            <a:r>
              <a:rPr lang="en-US" sz="2200" b="1" dirty="0">
                <a:solidFill>
                  <a:srgbClr val="06B6D4"/>
                </a:solidFill>
                <a:latin typeface="Calibri" pitchFamily="34" charset="0"/>
                <a:ea typeface="Calibri" pitchFamily="34" charset="-122"/>
                <a:cs typeface="Calibri" pitchFamily="34" charset="-120"/>
              </a:rPr>
              <a:t>≤ 100 mV</a:t>
            </a:r>
            <a:endParaRPr lang="en-US" sz="2200" dirty="0"/>
          </a:p>
        </p:txBody>
      </p:sp>
      <p:sp>
        <p:nvSpPr>
          <p:cNvPr id="13" name="Text 11"/>
          <p:cNvSpPr/>
          <p:nvPr/>
        </p:nvSpPr>
        <p:spPr>
          <a:xfrm>
            <a:off x="3200400" y="2103120"/>
            <a:ext cx="2743200" cy="45720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Common-mode peak</a:t>
            </a:r>
            <a:endParaRPr lang="en-US" sz="1100" dirty="0"/>
          </a:p>
        </p:txBody>
      </p:sp>
      <p:sp>
        <p:nvSpPr>
          <p:cNvPr id="14" name="Shape 12"/>
          <p:cNvSpPr/>
          <p:nvPr/>
        </p:nvSpPr>
        <p:spPr>
          <a:xfrm>
            <a:off x="6126480" y="1005840"/>
            <a:ext cx="2743200" cy="1645920"/>
          </a:xfrm>
          <a:prstGeom prst="rect">
            <a:avLst/>
          </a:prstGeom>
          <a:solidFill>
            <a:srgbClr val="112240"/>
          </a:solidFill>
          <a:ln w="12700">
            <a:solidFill>
              <a:srgbClr val="0E7490"/>
            </a:solidFill>
            <a:prstDash val="solid"/>
          </a:ln>
        </p:spPr>
      </p:sp>
      <p:sp>
        <p:nvSpPr>
          <p:cNvPr id="15" name="Shape 13"/>
          <p:cNvSpPr/>
          <p:nvPr/>
        </p:nvSpPr>
        <p:spPr>
          <a:xfrm>
            <a:off x="6126480" y="1005840"/>
            <a:ext cx="2743200" cy="320040"/>
          </a:xfrm>
          <a:prstGeom prst="rect">
            <a:avLst/>
          </a:prstGeom>
          <a:solidFill>
            <a:srgbClr val="0E7490"/>
          </a:solidFill>
          <a:ln w="12700">
            <a:solidFill>
              <a:srgbClr val="0E7490"/>
            </a:solidFill>
            <a:prstDash val="solid"/>
          </a:ln>
        </p:spPr>
      </p:sp>
      <p:sp>
        <p:nvSpPr>
          <p:cNvPr id="16" name="Text 14"/>
          <p:cNvSpPr/>
          <p:nvPr/>
        </p:nvSpPr>
        <p:spPr>
          <a:xfrm>
            <a:off x="6126480" y="1005840"/>
            <a:ext cx="27432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Conducted</a:t>
            </a:r>
            <a:endParaRPr lang="en-US" sz="1200" dirty="0"/>
          </a:p>
        </p:txBody>
      </p:sp>
      <p:sp>
        <p:nvSpPr>
          <p:cNvPr id="17" name="Text 15"/>
          <p:cNvSpPr/>
          <p:nvPr/>
        </p:nvSpPr>
        <p:spPr>
          <a:xfrm>
            <a:off x="6126480" y="1417320"/>
            <a:ext cx="2743200" cy="640080"/>
          </a:xfrm>
          <a:prstGeom prst="rect">
            <a:avLst/>
          </a:prstGeom>
          <a:noFill/>
          <a:ln/>
        </p:spPr>
        <p:txBody>
          <a:bodyPr wrap="square" rtlCol="0" anchor="ctr"/>
          <a:lstStyle/>
          <a:p>
            <a:pPr algn="ctr" indent="0" marL="0">
              <a:buNone/>
            </a:pPr>
            <a:r>
              <a:rPr lang="en-US" sz="2200" b="1" dirty="0">
                <a:solidFill>
                  <a:srgbClr val="06B6D4"/>
                </a:solidFill>
                <a:latin typeface="Calibri" pitchFamily="34" charset="0"/>
                <a:ea typeface="Calibri" pitchFamily="34" charset="-122"/>
                <a:cs typeface="Calibri" pitchFamily="34" charset="-120"/>
              </a:rPr>
              <a:t>≤ 50 mV</a:t>
            </a:r>
            <a:endParaRPr lang="en-US" sz="2200" dirty="0"/>
          </a:p>
        </p:txBody>
      </p:sp>
      <p:sp>
        <p:nvSpPr>
          <p:cNvPr id="18" name="Text 16"/>
          <p:cNvSpPr/>
          <p:nvPr/>
        </p:nvSpPr>
        <p:spPr>
          <a:xfrm>
            <a:off x="6126480" y="2103120"/>
            <a:ext cx="2743200" cy="45720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Power circuit coupling (peak)</a:t>
            </a:r>
            <a:endParaRPr lang="en-US" sz="1100" dirty="0"/>
          </a:p>
        </p:txBody>
      </p:sp>
      <p:sp>
        <p:nvSpPr>
          <p:cNvPr id="19" name="Shape 17"/>
          <p:cNvSpPr/>
          <p:nvPr/>
        </p:nvSpPr>
        <p:spPr>
          <a:xfrm>
            <a:off x="274320" y="2880360"/>
            <a:ext cx="2743200" cy="1645920"/>
          </a:xfrm>
          <a:prstGeom prst="rect">
            <a:avLst/>
          </a:prstGeom>
          <a:solidFill>
            <a:srgbClr val="112240"/>
          </a:solidFill>
          <a:ln w="12700">
            <a:solidFill>
              <a:srgbClr val="0E7490"/>
            </a:solidFill>
            <a:prstDash val="solid"/>
          </a:ln>
        </p:spPr>
      </p:sp>
      <p:sp>
        <p:nvSpPr>
          <p:cNvPr id="20" name="Shape 18"/>
          <p:cNvSpPr/>
          <p:nvPr/>
        </p:nvSpPr>
        <p:spPr>
          <a:xfrm>
            <a:off x="274320" y="2880360"/>
            <a:ext cx="2743200" cy="320040"/>
          </a:xfrm>
          <a:prstGeom prst="rect">
            <a:avLst/>
          </a:prstGeom>
          <a:solidFill>
            <a:srgbClr val="0E7490"/>
          </a:solidFill>
          <a:ln w="12700">
            <a:solidFill>
              <a:srgbClr val="0E7490"/>
            </a:solidFill>
            <a:prstDash val="solid"/>
          </a:ln>
        </p:spPr>
      </p:sp>
      <p:sp>
        <p:nvSpPr>
          <p:cNvPr id="21" name="Text 19"/>
          <p:cNvSpPr/>
          <p:nvPr/>
        </p:nvSpPr>
        <p:spPr>
          <a:xfrm>
            <a:off x="274320" y="2880360"/>
            <a:ext cx="27432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Reduction</a:t>
            </a:r>
            <a:endParaRPr lang="en-US" sz="1200" dirty="0"/>
          </a:p>
        </p:txBody>
      </p:sp>
      <p:sp>
        <p:nvSpPr>
          <p:cNvPr id="22" name="Text 20"/>
          <p:cNvSpPr/>
          <p:nvPr/>
        </p:nvSpPr>
        <p:spPr>
          <a:xfrm>
            <a:off x="274320" y="3291840"/>
            <a:ext cx="2743200" cy="640080"/>
          </a:xfrm>
          <a:prstGeom prst="rect">
            <a:avLst/>
          </a:prstGeom>
          <a:noFill/>
          <a:ln/>
        </p:spPr>
        <p:txBody>
          <a:bodyPr wrap="square" rtlCol="0" anchor="ctr"/>
          <a:lstStyle/>
          <a:p>
            <a:pPr algn="ctr" indent="0" marL="0">
              <a:buNone/>
            </a:pPr>
            <a:r>
              <a:rPr lang="en-US" sz="2200" b="1" dirty="0">
                <a:solidFill>
                  <a:srgbClr val="06B6D4"/>
                </a:solidFill>
                <a:latin typeface="Calibri" pitchFamily="34" charset="0"/>
                <a:ea typeface="Calibri" pitchFamily="34" charset="-122"/>
                <a:cs typeface="Calibri" pitchFamily="34" charset="-120"/>
              </a:rPr>
              <a:t>≥ 50%</a:t>
            </a:r>
            <a:endParaRPr lang="en-US" sz="2200" dirty="0"/>
          </a:p>
        </p:txBody>
      </p:sp>
      <p:sp>
        <p:nvSpPr>
          <p:cNvPr id="23" name="Text 21"/>
          <p:cNvSpPr/>
          <p:nvPr/>
        </p:nvSpPr>
        <p:spPr>
          <a:xfrm>
            <a:off x="274320" y="3977640"/>
            <a:ext cx="2743200" cy="45720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Noise improvement vs baseline</a:t>
            </a:r>
            <a:endParaRPr lang="en-US" sz="1100" dirty="0"/>
          </a:p>
        </p:txBody>
      </p:sp>
      <p:sp>
        <p:nvSpPr>
          <p:cNvPr id="24" name="Shape 22"/>
          <p:cNvSpPr/>
          <p:nvPr/>
        </p:nvSpPr>
        <p:spPr>
          <a:xfrm>
            <a:off x="3200400" y="2880360"/>
            <a:ext cx="2743200" cy="1645920"/>
          </a:xfrm>
          <a:prstGeom prst="rect">
            <a:avLst/>
          </a:prstGeom>
          <a:solidFill>
            <a:srgbClr val="112240"/>
          </a:solidFill>
          <a:ln w="12700">
            <a:solidFill>
              <a:srgbClr val="0E7490"/>
            </a:solidFill>
            <a:prstDash val="solid"/>
          </a:ln>
        </p:spPr>
      </p:sp>
      <p:sp>
        <p:nvSpPr>
          <p:cNvPr id="25" name="Shape 23"/>
          <p:cNvSpPr/>
          <p:nvPr/>
        </p:nvSpPr>
        <p:spPr>
          <a:xfrm>
            <a:off x="3200400" y="2880360"/>
            <a:ext cx="2743200" cy="320040"/>
          </a:xfrm>
          <a:prstGeom prst="rect">
            <a:avLst/>
          </a:prstGeom>
          <a:solidFill>
            <a:srgbClr val="0E7490"/>
          </a:solidFill>
          <a:ln w="12700">
            <a:solidFill>
              <a:srgbClr val="0E7490"/>
            </a:solidFill>
            <a:prstDash val="solid"/>
          </a:ln>
        </p:spPr>
      </p:sp>
      <p:sp>
        <p:nvSpPr>
          <p:cNvPr id="26" name="Text 24"/>
          <p:cNvSpPr/>
          <p:nvPr/>
        </p:nvSpPr>
        <p:spPr>
          <a:xfrm>
            <a:off x="3200400" y="2880360"/>
            <a:ext cx="27432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Impedance</a:t>
            </a:r>
            <a:endParaRPr lang="en-US" sz="1200" dirty="0"/>
          </a:p>
        </p:txBody>
      </p:sp>
      <p:sp>
        <p:nvSpPr>
          <p:cNvPr id="27" name="Text 25"/>
          <p:cNvSpPr/>
          <p:nvPr/>
        </p:nvSpPr>
        <p:spPr>
          <a:xfrm>
            <a:off x="3200400" y="3291840"/>
            <a:ext cx="2743200" cy="640080"/>
          </a:xfrm>
          <a:prstGeom prst="rect">
            <a:avLst/>
          </a:prstGeom>
          <a:noFill/>
          <a:ln/>
        </p:spPr>
        <p:txBody>
          <a:bodyPr wrap="square" rtlCol="0" anchor="ctr"/>
          <a:lstStyle/>
          <a:p>
            <a:pPr algn="ctr" indent="0" marL="0">
              <a:buNone/>
            </a:pPr>
            <a:r>
              <a:rPr lang="en-US" sz="2200" b="1" dirty="0">
                <a:solidFill>
                  <a:srgbClr val="06B6D4"/>
                </a:solidFill>
                <a:latin typeface="Calibri" pitchFamily="34" charset="0"/>
                <a:ea typeface="Calibri" pitchFamily="34" charset="-122"/>
                <a:cs typeface="Calibri" pitchFamily="34" charset="-120"/>
              </a:rPr>
              <a:t>120 Ω ±10%</a:t>
            </a:r>
            <a:endParaRPr lang="en-US" sz="2200" dirty="0"/>
          </a:p>
        </p:txBody>
      </p:sp>
      <p:sp>
        <p:nvSpPr>
          <p:cNvPr id="28" name="Text 26"/>
          <p:cNvSpPr/>
          <p:nvPr/>
        </p:nvSpPr>
        <p:spPr>
          <a:xfrm>
            <a:off x="3200400" y="3977640"/>
            <a:ext cx="2743200" cy="45720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Differential termination</a:t>
            </a:r>
            <a:endParaRPr lang="en-US" sz="1100" dirty="0"/>
          </a:p>
        </p:txBody>
      </p:sp>
      <p:sp>
        <p:nvSpPr>
          <p:cNvPr id="29" name="Shape 27"/>
          <p:cNvSpPr/>
          <p:nvPr/>
        </p:nvSpPr>
        <p:spPr>
          <a:xfrm>
            <a:off x="6126480" y="2880360"/>
            <a:ext cx="2743200" cy="1645920"/>
          </a:xfrm>
          <a:prstGeom prst="rect">
            <a:avLst/>
          </a:prstGeom>
          <a:solidFill>
            <a:srgbClr val="112240"/>
          </a:solidFill>
          <a:ln w="12700">
            <a:solidFill>
              <a:srgbClr val="0E7490"/>
            </a:solidFill>
            <a:prstDash val="solid"/>
          </a:ln>
        </p:spPr>
      </p:sp>
      <p:sp>
        <p:nvSpPr>
          <p:cNvPr id="30" name="Shape 28"/>
          <p:cNvSpPr/>
          <p:nvPr/>
        </p:nvSpPr>
        <p:spPr>
          <a:xfrm>
            <a:off x="6126480" y="2880360"/>
            <a:ext cx="2743200" cy="320040"/>
          </a:xfrm>
          <a:prstGeom prst="rect">
            <a:avLst/>
          </a:prstGeom>
          <a:solidFill>
            <a:srgbClr val="0E7490"/>
          </a:solidFill>
          <a:ln w="12700">
            <a:solidFill>
              <a:srgbClr val="0E7490"/>
            </a:solidFill>
            <a:prstDash val="solid"/>
          </a:ln>
        </p:spPr>
      </p:sp>
      <p:sp>
        <p:nvSpPr>
          <p:cNvPr id="31" name="Text 29"/>
          <p:cNvSpPr/>
          <p:nvPr/>
        </p:nvSpPr>
        <p:spPr>
          <a:xfrm>
            <a:off x="6126480" y="2880360"/>
            <a:ext cx="274320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Rise/Fall</a:t>
            </a:r>
            <a:endParaRPr lang="en-US" sz="1200" dirty="0"/>
          </a:p>
        </p:txBody>
      </p:sp>
      <p:sp>
        <p:nvSpPr>
          <p:cNvPr id="32" name="Text 30"/>
          <p:cNvSpPr/>
          <p:nvPr/>
        </p:nvSpPr>
        <p:spPr>
          <a:xfrm>
            <a:off x="6126480" y="3291840"/>
            <a:ext cx="2743200" cy="640080"/>
          </a:xfrm>
          <a:prstGeom prst="rect">
            <a:avLst/>
          </a:prstGeom>
          <a:noFill/>
          <a:ln/>
        </p:spPr>
        <p:txBody>
          <a:bodyPr wrap="square" rtlCol="0" anchor="ctr"/>
          <a:lstStyle/>
          <a:p>
            <a:pPr algn="ctr" indent="0" marL="0">
              <a:buNone/>
            </a:pPr>
            <a:r>
              <a:rPr lang="en-US" sz="2200" b="1" dirty="0">
                <a:solidFill>
                  <a:srgbClr val="06B6D4"/>
                </a:solidFill>
                <a:latin typeface="Calibri" pitchFamily="34" charset="0"/>
                <a:ea typeface="Calibri" pitchFamily="34" charset="-122"/>
                <a:cs typeface="Calibri" pitchFamily="34" charset="-120"/>
              </a:rPr>
              <a:t>≤ 20%</a:t>
            </a:r>
            <a:endParaRPr lang="en-US" sz="2200" dirty="0"/>
          </a:p>
        </p:txBody>
      </p:sp>
      <p:sp>
        <p:nvSpPr>
          <p:cNvPr id="33" name="Text 31"/>
          <p:cNvSpPr/>
          <p:nvPr/>
        </p:nvSpPr>
        <p:spPr>
          <a:xfrm>
            <a:off x="6126480" y="3977640"/>
            <a:ext cx="2743200" cy="45720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Degradation vs ideal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Baseline System Model</a:t>
            </a:r>
            <a:endParaRPr lang="en-US" sz="2800" dirty="0"/>
          </a:p>
        </p:txBody>
      </p:sp>
      <p:sp>
        <p:nvSpPr>
          <p:cNvPr id="3" name="Shape 1"/>
          <p:cNvSpPr/>
          <p:nvPr/>
        </p:nvSpPr>
        <p:spPr>
          <a:xfrm>
            <a:off x="365760" y="658368"/>
            <a:ext cx="1828800" cy="36576"/>
          </a:xfrm>
          <a:prstGeom prst="rect">
            <a:avLst/>
          </a:prstGeom>
          <a:solidFill>
            <a:srgbClr val="06B6D4"/>
          </a:solidFill>
          <a:ln w="12700">
            <a:solidFill>
              <a:srgbClr val="06B6D4"/>
            </a:solidFill>
            <a:prstDash val="solid"/>
          </a:ln>
        </p:spPr>
      </p:sp>
      <p:pic>
        <p:nvPicPr>
          <p:cNvPr id="4" name="Image 0" descr="preencoded.png">    </p:cNvPr>
          <p:cNvPicPr>
            <a:picLocks noChangeAspect="1"/>
          </p:cNvPicPr>
          <p:nvPr/>
        </p:nvPicPr>
        <p:blipFill>
          <a:blip r:embed="rId1"/>
          <a:srcRect l="0" r="0" t="0" b="0"/>
          <a:stretch/>
        </p:blipFill>
        <p:spPr>
          <a:xfrm>
            <a:off x="274320" y="777240"/>
            <a:ext cx="8595360" cy="205740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2971800"/>
          <a:ext cx="8595360" cy="2011680"/>
        </p:xfrm>
        <a:graphic>
          <a:graphicData uri="http://schemas.openxmlformats.org/drawingml/2006/table">
            <a:tbl>
              <a:tblPr/>
              <a:tblGrid>
                <a:gridCol w="2286000"/>
                <a:gridCol w="2011680"/>
                <a:gridCol w="4297680"/>
              </a:tblGrid>
              <a:tr h="265176">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0E749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0E749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0E7490"/>
                    </a:solidFill>
                  </a:tcPr>
                </a:tc>
              </a:tr>
              <a:tr h="265176">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R1, R7 (Termination)</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120 Ω</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CAN bus impedance matching</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r h="265176">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R2–R5 (Wire resistance)</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5 Ω each</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Harness parasitic resistance</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r h="265176">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L1–L5 (Wire inductance)</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0.5 µH each</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Harness parasitic inductance</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r h="265176">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C1 (Inter-wire cap)</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100 pF</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Baseline differential capacitance</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r h="265176">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C2, C3 (Coupling cap)</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0.1 fF each</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HV-to-CAN parasitic coupling</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r h="265176">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V3 (Noise source)</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100 V pulse, 10 ns edge</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l" indent="0" marL="0">
                        <a:buNone/>
                      </a:pPr>
                      <a:r>
                        <a:rPr lang="en-US" sz="1100" dirty="0">
                          <a:solidFill>
                            <a:srgbClr val="E2F0F7"/>
                          </a:solidFill>
                          <a:latin typeface="Calibri" pitchFamily="34" charset="0"/>
                          <a:ea typeface="Calibri" pitchFamily="34" charset="-122"/>
                          <a:cs typeface="Calibri" pitchFamily="34" charset="-120"/>
                        </a:rPr>
                        <a:t>Traction inverter switching transient</a:t>
                      </a:r>
                      <a:endParaRPr lang="en-US" sz="11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Baseline Result — Unmitigated Noise</a:t>
            </a:r>
            <a:endParaRPr lang="en-US" sz="2800" dirty="0"/>
          </a:p>
        </p:txBody>
      </p:sp>
      <p:sp>
        <p:nvSpPr>
          <p:cNvPr id="3" name="Shape 1"/>
          <p:cNvSpPr/>
          <p:nvPr/>
        </p:nvSpPr>
        <p:spPr>
          <a:xfrm>
            <a:off x="365760" y="658368"/>
            <a:ext cx="2286000" cy="36576"/>
          </a:xfrm>
          <a:prstGeom prst="rect">
            <a:avLst/>
          </a:prstGeom>
          <a:solidFill>
            <a:srgbClr val="EF4444"/>
          </a:solidFill>
          <a:ln w="12700">
            <a:solidFill>
              <a:srgbClr val="EF4444"/>
            </a:solidFill>
            <a:prstDash val="solid"/>
          </a:ln>
        </p:spPr>
      </p:sp>
      <p:pic>
        <p:nvPicPr>
          <p:cNvPr id="4" name="Image 0" descr="preencoded.png">    </p:cNvPr>
          <p:cNvPicPr>
            <a:picLocks noChangeAspect="1"/>
          </p:cNvPicPr>
          <p:nvPr/>
        </p:nvPicPr>
        <p:blipFill>
          <a:blip r:embed="rId1"/>
          <a:srcRect l="0" r="0" t="0" b="0"/>
          <a:stretch/>
        </p:blipFill>
        <p:spPr>
          <a:xfrm>
            <a:off x="274320" y="777240"/>
            <a:ext cx="8595360" cy="3200400"/>
          </a:xfrm>
          <a:prstGeom prst="rect">
            <a:avLst/>
          </a:prstGeom>
        </p:spPr>
      </p:pic>
      <p:sp>
        <p:nvSpPr>
          <p:cNvPr id="5" name="Shape 2"/>
          <p:cNvSpPr/>
          <p:nvPr/>
        </p:nvSpPr>
        <p:spPr>
          <a:xfrm>
            <a:off x="274320" y="4114800"/>
            <a:ext cx="8595360" cy="777240"/>
          </a:xfrm>
          <a:prstGeom prst="rect">
            <a:avLst/>
          </a:prstGeom>
          <a:solidFill>
            <a:srgbClr val="112240"/>
          </a:solidFill>
          <a:ln w="12700">
            <a:solidFill>
              <a:srgbClr val="EF4444"/>
            </a:solidFill>
            <a:prstDash val="solid"/>
          </a:ln>
        </p:spPr>
      </p:sp>
      <p:sp>
        <p:nvSpPr>
          <p:cNvPr id="6" name="Text 3"/>
          <p:cNvSpPr/>
          <p:nvPr/>
        </p:nvSpPr>
        <p:spPr>
          <a:xfrm>
            <a:off x="411480" y="4160520"/>
            <a:ext cx="8321040" cy="685800"/>
          </a:xfrm>
          <a:prstGeom prst="rect">
            <a:avLst/>
          </a:prstGeom>
          <a:noFill/>
          <a:ln/>
        </p:spPr>
        <p:txBody>
          <a:bodyPr wrap="square"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  Observation: </a:t>
            </a:r>
            <a:pPr indent="0" marL="0">
              <a:buNone/>
            </a:pPr>
            <a:r>
              <a:rPr lang="en-US" sz="1200" dirty="0">
                <a:solidFill>
                  <a:srgbClr val="E2F0F7"/>
                </a:solidFill>
                <a:latin typeface="Calibri" pitchFamily="34" charset="0"/>
                <a:ea typeface="Calibri" pitchFamily="34" charset="-122"/>
                <a:cs typeface="Calibri" pitchFamily="34" charset="-120"/>
              </a:rPr>
              <a:t>Peak common-mode spikes reach ±70–75 mV (within limit, but highly erratic). Differential signal integrity is destroyed by inductive kickback from 0.5 µH wire inductance. Formula: V = L·(dI/dt). With 10 ns edges and 100 V transients, this generates catastrophic noise. BER threshold of ≤10⁻⁹ FAILS.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Mitigation A: Shielded Cable</a:t>
            </a:r>
            <a:endParaRPr lang="en-US" sz="2800" dirty="0"/>
          </a:p>
        </p:txBody>
      </p:sp>
      <p:sp>
        <p:nvSpPr>
          <p:cNvPr id="3" name="Shape 1"/>
          <p:cNvSpPr/>
          <p:nvPr/>
        </p:nvSpPr>
        <p:spPr>
          <a:xfrm>
            <a:off x="365760" y="658368"/>
            <a:ext cx="1828800" cy="36576"/>
          </a:xfrm>
          <a:prstGeom prst="rect">
            <a:avLst/>
          </a:prstGeom>
          <a:solidFill>
            <a:srgbClr val="22C55E"/>
          </a:solidFill>
          <a:ln w="12700">
            <a:solidFill>
              <a:srgbClr val="22C55E"/>
            </a:solidFill>
            <a:prstDash val="solid"/>
          </a:ln>
        </p:spPr>
      </p:sp>
      <p:pic>
        <p:nvPicPr>
          <p:cNvPr id="4" name="Image 0" descr="preencoded.png">    </p:cNvPr>
          <p:cNvPicPr>
            <a:picLocks noChangeAspect="1"/>
          </p:cNvPicPr>
          <p:nvPr/>
        </p:nvPicPr>
        <p:blipFill>
          <a:blip r:embed="rId1"/>
          <a:srcRect l="0" r="0" t="0" b="0"/>
          <a:stretch/>
        </p:blipFill>
        <p:spPr>
          <a:xfrm>
            <a:off x="274320" y="777240"/>
            <a:ext cx="8595360" cy="1920240"/>
          </a:xfrm>
          <a:prstGeom prst="rect">
            <a:avLst/>
          </a:prstGeom>
        </p:spPr>
      </p:pic>
      <p:sp>
        <p:nvSpPr>
          <p:cNvPr id="5" name="Shape 2"/>
          <p:cNvSpPr/>
          <p:nvPr/>
        </p:nvSpPr>
        <p:spPr>
          <a:xfrm>
            <a:off x="274320" y="2834640"/>
            <a:ext cx="4114800" cy="2103120"/>
          </a:xfrm>
          <a:prstGeom prst="rect">
            <a:avLst/>
          </a:prstGeom>
          <a:solidFill>
            <a:srgbClr val="112240"/>
          </a:solidFill>
          <a:ln w="12700">
            <a:solidFill>
              <a:srgbClr val="22C55E"/>
            </a:solidFill>
            <a:prstDash val="solid"/>
          </a:ln>
        </p:spPr>
      </p:sp>
      <p:sp>
        <p:nvSpPr>
          <p:cNvPr id="6" name="Text 3"/>
          <p:cNvSpPr/>
          <p:nvPr/>
        </p:nvSpPr>
        <p:spPr>
          <a:xfrm>
            <a:off x="457200" y="2880360"/>
            <a:ext cx="3749040" cy="365760"/>
          </a:xfrm>
          <a:prstGeom prst="rect">
            <a:avLst/>
          </a:prstGeom>
          <a:noFill/>
          <a:ln/>
        </p:spPr>
        <p:txBody>
          <a:bodyPr wrap="square"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Modified Components</a:t>
            </a:r>
            <a:endParaRPr lang="en-US" sz="1400" dirty="0"/>
          </a:p>
        </p:txBody>
      </p:sp>
      <p:sp>
        <p:nvSpPr>
          <p:cNvPr id="7" name="Text 4"/>
          <p:cNvSpPr/>
          <p:nvPr/>
        </p:nvSpPr>
        <p:spPr>
          <a:xfrm>
            <a:off x="457200" y="3291840"/>
            <a:ext cx="3749040" cy="1554480"/>
          </a:xfrm>
          <a:prstGeom prst="rect">
            <a:avLst/>
          </a:prstGeom>
          <a:noFill/>
          <a:ln/>
        </p:spPr>
        <p:txBody>
          <a:bodyPr wrap="square" rtlCol="0" anchor="ctr"/>
          <a:lstStyle/>
          <a:p>
            <a:pPr indent="0" marL="0">
              <a:buNone/>
            </a:pPr>
            <a:r>
              <a:rPr lang="en-US" sz="1200" b="1" dirty="0">
                <a:solidFill>
                  <a:srgbClr val="E2F0F7"/>
                </a:solidFill>
                <a:latin typeface="Calibri" pitchFamily="34" charset="0"/>
                <a:ea typeface="Calibri" pitchFamily="34" charset="-122"/>
                <a:cs typeface="Calibri" pitchFamily="34" charset="-120"/>
              </a:rPr>
              <a:t>R6 (Noise source damping): </a:t>
            </a:r>
            <a:pPr indent="0" marL="0">
              <a:buNone/>
            </a:pPr>
            <a:r>
              <a:rPr lang="en-US" sz="1200" dirty="0">
                <a:solidFill>
                  <a:srgbClr val="E2F0F7"/>
                </a:solidFill>
                <a:latin typeface="Calibri" pitchFamily="34" charset="0"/>
                <a:ea typeface="Calibri" pitchFamily="34" charset="-122"/>
                <a:cs typeface="Calibri" pitchFamily="34" charset="-120"/>
              </a:rPr>
              <a:t>5 Ω → 50 Ω (realistic motor output impedance)
</a:t>
            </a:r>
            <a:pPr indent="0" marL="0">
              <a:buNone/>
            </a:pPr>
            <a:r>
              <a:rPr lang="en-US" sz="1200" b="1" dirty="0">
                <a:solidFill>
                  <a:srgbClr val="E2F0F7"/>
                </a:solidFill>
                <a:latin typeface="Calibri" pitchFamily="34" charset="0"/>
                <a:ea typeface="Calibri" pitchFamily="34" charset="-122"/>
                <a:cs typeface="Calibri" pitchFamily="34" charset="-120"/>
              </a:rPr>
              <a:t>C4, C5 (Shield caps): </a:t>
            </a:r>
            <a:pPr indent="0" marL="0">
              <a:buNone/>
            </a:pPr>
            <a:r>
              <a:rPr lang="en-US" sz="1200" dirty="0">
                <a:solidFill>
                  <a:srgbClr val="E2F0F7"/>
                </a:solidFill>
                <a:latin typeface="Calibri" pitchFamily="34" charset="0"/>
                <a:ea typeface="Calibri" pitchFamily="34" charset="-122"/>
                <a:cs typeface="Calibri" pitchFamily="34" charset="-120"/>
              </a:rPr>
              <a:t>0.1 fF each, CAN_H and CAN_L to GND
</a:t>
            </a:r>
            <a:pPr indent="0" marL="0">
              <a:buNone/>
            </a:pPr>
            <a:r>
              <a:rPr lang="en-US" sz="1200" b="1" dirty="0">
                <a:solidFill>
                  <a:srgbClr val="E2F0F7"/>
                </a:solidFill>
                <a:latin typeface="Calibri" pitchFamily="34" charset="0"/>
                <a:ea typeface="Calibri" pitchFamily="34" charset="-122"/>
                <a:cs typeface="Calibri" pitchFamily="34" charset="-120"/>
              </a:rPr>
              <a:t>Position: </a:t>
            </a:r>
            <a:pPr indent="0" marL="0">
              <a:buNone/>
            </a:pPr>
            <a:r>
              <a:rPr lang="en-US" sz="1200" dirty="0">
                <a:solidFill>
                  <a:srgbClr val="E2F0F7"/>
                </a:solidFill>
                <a:latin typeface="Calibri" pitchFamily="34" charset="0"/>
                <a:ea typeface="Calibri" pitchFamily="34" charset="-122"/>
                <a:cs typeface="Calibri" pitchFamily="34" charset="-120"/>
              </a:rPr>
              <a:t>Immediately before R7 (120 Ω termination)</a:t>
            </a:r>
            <a:endParaRPr lang="en-US" sz="1200" dirty="0"/>
          </a:p>
        </p:txBody>
      </p:sp>
      <p:sp>
        <p:nvSpPr>
          <p:cNvPr id="8" name="Shape 5"/>
          <p:cNvSpPr/>
          <p:nvPr/>
        </p:nvSpPr>
        <p:spPr>
          <a:xfrm>
            <a:off x="4617720" y="2834640"/>
            <a:ext cx="4206240" cy="2103120"/>
          </a:xfrm>
          <a:prstGeom prst="rect">
            <a:avLst/>
          </a:prstGeom>
          <a:solidFill>
            <a:srgbClr val="112240"/>
          </a:solidFill>
          <a:ln w="12700">
            <a:solidFill>
              <a:srgbClr val="22C55E"/>
            </a:solidFill>
            <a:prstDash val="solid"/>
          </a:ln>
        </p:spPr>
      </p:sp>
      <p:sp>
        <p:nvSpPr>
          <p:cNvPr id="9" name="Text 6"/>
          <p:cNvSpPr/>
          <p:nvPr/>
        </p:nvSpPr>
        <p:spPr>
          <a:xfrm>
            <a:off x="4800600" y="2880360"/>
            <a:ext cx="3840480" cy="365760"/>
          </a:xfrm>
          <a:prstGeom prst="rect">
            <a:avLst/>
          </a:prstGeom>
          <a:noFill/>
          <a:ln/>
        </p:spPr>
        <p:txBody>
          <a:bodyPr wrap="square"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Mechanism: Faraday Cage</a:t>
            </a:r>
            <a:endParaRPr lang="en-US" sz="1400" dirty="0"/>
          </a:p>
        </p:txBody>
      </p:sp>
      <p:sp>
        <p:nvSpPr>
          <p:cNvPr id="10" name="Text 7"/>
          <p:cNvSpPr/>
          <p:nvPr/>
        </p:nvSpPr>
        <p:spPr>
          <a:xfrm>
            <a:off x="4800600" y="3291840"/>
            <a:ext cx="3840480" cy="1554480"/>
          </a:xfrm>
          <a:prstGeom prst="rect">
            <a:avLst/>
          </a:prstGeom>
          <a:noFill/>
          <a:ln/>
        </p:spPr>
        <p:txBody>
          <a:bodyPr wrap="square" rtlCol="0" anchor="ctr"/>
          <a:lstStyle/>
          <a:p>
            <a:pPr indent="0" marL="0">
              <a:buNone/>
            </a:pPr>
            <a:r>
              <a:rPr lang="en-US" sz="1200" dirty="0">
                <a:solidFill>
                  <a:srgbClr val="E2F0F7"/>
                </a:solidFill>
                <a:latin typeface="Calibri" pitchFamily="34" charset="0"/>
                <a:ea typeface="Calibri" pitchFamily="34" charset="-122"/>
                <a:cs typeface="Calibri" pitchFamily="34" charset="-120"/>
              </a:rPr>
              <a:t>The grounded copper braid/shield simulates a Faraday cage. The 0.1 fF capacitance models the shield's capacitance-to-ground inherent in a Shielded Twisted Pair (STP) cable.</a:t>
            </a:r>
            <a:endParaRPr lang="en-US" sz="1200" dirty="0"/>
          </a:p>
          <a:p>
            <a:pPr indent="0" marL="0">
              <a:buNone/>
            </a:pPr>
            <a:endParaRPr lang="en-US" sz="1200" dirty="0"/>
          </a:p>
          <a:p>
            <a:pPr indent="0" marL="0">
              <a:buNone/>
            </a:pPr>
            <a:r>
              <a:rPr lang="en-US" sz="1200" dirty="0">
                <a:solidFill>
                  <a:srgbClr val="E2F0F7"/>
                </a:solidFill>
                <a:latin typeface="Calibri" pitchFamily="34" charset="0"/>
                <a:ea typeface="Calibri" pitchFamily="34" charset="-122"/>
                <a:cs typeface="Calibri" pitchFamily="34" charset="-120"/>
              </a:rPr>
              <a:t>High-frequency noise seeks the path of least impedance — it shunts to ground through C4/C5 before it can develop voltage across the 120 Ω termination.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Approach A: Shielding — Simulation Result</a:t>
            </a:r>
            <a:endParaRPr lang="en-US" sz="2600" dirty="0"/>
          </a:p>
        </p:txBody>
      </p:sp>
      <p:sp>
        <p:nvSpPr>
          <p:cNvPr id="3" name="Shape 1"/>
          <p:cNvSpPr/>
          <p:nvPr/>
        </p:nvSpPr>
        <p:spPr>
          <a:xfrm>
            <a:off x="365760" y="658368"/>
            <a:ext cx="2286000" cy="36576"/>
          </a:xfrm>
          <a:prstGeom prst="rect">
            <a:avLst/>
          </a:prstGeom>
          <a:solidFill>
            <a:srgbClr val="22C55E"/>
          </a:solidFill>
          <a:ln w="12700">
            <a:solidFill>
              <a:srgbClr val="22C55E"/>
            </a:solidFill>
            <a:prstDash val="solid"/>
          </a:ln>
        </p:spPr>
      </p:sp>
      <p:pic>
        <p:nvPicPr>
          <p:cNvPr id="4" name="Image 0" descr="preencoded.png">    </p:cNvPr>
          <p:cNvPicPr>
            <a:picLocks noChangeAspect="1"/>
          </p:cNvPicPr>
          <p:nvPr/>
        </p:nvPicPr>
        <p:blipFill>
          <a:blip r:embed="rId1"/>
          <a:srcRect l="0" r="0" t="0" b="0"/>
          <a:stretch/>
        </p:blipFill>
        <p:spPr>
          <a:xfrm>
            <a:off x="274320" y="777240"/>
            <a:ext cx="8595360" cy="3200400"/>
          </a:xfrm>
          <a:prstGeom prst="rect">
            <a:avLst/>
          </a:prstGeom>
        </p:spPr>
      </p:pic>
      <p:sp>
        <p:nvSpPr>
          <p:cNvPr id="5" name="Shape 2"/>
          <p:cNvSpPr/>
          <p:nvPr/>
        </p:nvSpPr>
        <p:spPr>
          <a:xfrm>
            <a:off x="274320" y="4114800"/>
            <a:ext cx="8595360" cy="777240"/>
          </a:xfrm>
          <a:prstGeom prst="rect">
            <a:avLst/>
          </a:prstGeom>
          <a:solidFill>
            <a:srgbClr val="112240"/>
          </a:solidFill>
          <a:ln w="12700">
            <a:solidFill>
              <a:srgbClr val="22C55E"/>
            </a:solidFill>
            <a:prstDash val="solid"/>
          </a:ln>
        </p:spPr>
      </p:sp>
      <p:sp>
        <p:nvSpPr>
          <p:cNvPr id="6" name="Text 3"/>
          <p:cNvSpPr/>
          <p:nvPr/>
        </p:nvSpPr>
        <p:spPr>
          <a:xfrm>
            <a:off x="411480" y="4160520"/>
            <a:ext cx="8321040" cy="685800"/>
          </a:xfrm>
          <a:prstGeom prst="rect">
            <a:avLst/>
          </a:prstGeom>
          <a:noFill/>
          <a:ln/>
        </p:spPr>
        <p:txBody>
          <a:bodyPr wrap="square"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  Result: </a:t>
            </a:r>
            <a:pPr indent="0" marL="0">
              <a:buNone/>
            </a:pPr>
            <a:r>
              <a:rPr lang="en-US" sz="1200" dirty="0">
                <a:solidFill>
                  <a:srgbClr val="E2F0F7"/>
                </a:solidFill>
                <a:latin typeface="Calibri" pitchFamily="34" charset="0"/>
                <a:ea typeface="Calibri" pitchFamily="34" charset="-122"/>
                <a:cs typeface="Calibri" pitchFamily="34" charset="-120"/>
              </a:rPr>
              <a:t>Peak common-mode deviation ≈ 75 mV — within the ≤ 100 mV target. Signal waveform shows damped ringing (smooth envelope) — still clean enough for 1 Mbps CAN. Differential amplitude maintained at ~2.0 V. Near-ideal BER performance restored.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Mitigation B: RC Low-Pass Filter</a:t>
            </a:r>
            <a:endParaRPr lang="en-US" sz="2800" dirty="0"/>
          </a:p>
        </p:txBody>
      </p:sp>
      <p:sp>
        <p:nvSpPr>
          <p:cNvPr id="3" name="Shape 1"/>
          <p:cNvSpPr/>
          <p:nvPr/>
        </p:nvSpPr>
        <p:spPr>
          <a:xfrm>
            <a:off x="365760" y="658368"/>
            <a:ext cx="1828800" cy="36576"/>
          </a:xfrm>
          <a:prstGeom prst="rect">
            <a:avLst/>
          </a:prstGeom>
          <a:solidFill>
            <a:srgbClr val="F59E0B"/>
          </a:solidFill>
          <a:ln w="12700">
            <a:solidFill>
              <a:srgbClr val="F59E0B"/>
            </a:solidFill>
            <a:prstDash val="solid"/>
          </a:ln>
        </p:spPr>
      </p:sp>
      <p:pic>
        <p:nvPicPr>
          <p:cNvPr id="4" name="Image 0" descr="preencoded.png">    </p:cNvPr>
          <p:cNvPicPr>
            <a:picLocks noChangeAspect="1"/>
          </p:cNvPicPr>
          <p:nvPr/>
        </p:nvPicPr>
        <p:blipFill>
          <a:blip r:embed="rId1"/>
          <a:srcRect l="0" r="0" t="0" b="0"/>
          <a:stretch/>
        </p:blipFill>
        <p:spPr>
          <a:xfrm>
            <a:off x="274320" y="777240"/>
            <a:ext cx="8595360" cy="1920240"/>
          </a:xfrm>
          <a:prstGeom prst="rect">
            <a:avLst/>
          </a:prstGeom>
        </p:spPr>
      </p:pic>
      <p:sp>
        <p:nvSpPr>
          <p:cNvPr id="5" name="Shape 2"/>
          <p:cNvSpPr/>
          <p:nvPr/>
        </p:nvSpPr>
        <p:spPr>
          <a:xfrm>
            <a:off x="274320" y="2834640"/>
            <a:ext cx="4114800" cy="2103120"/>
          </a:xfrm>
          <a:prstGeom prst="rect">
            <a:avLst/>
          </a:prstGeom>
          <a:solidFill>
            <a:srgbClr val="112240"/>
          </a:solidFill>
          <a:ln w="12700">
            <a:solidFill>
              <a:srgbClr val="F59E0B"/>
            </a:solidFill>
            <a:prstDash val="solid"/>
          </a:ln>
        </p:spPr>
      </p:sp>
      <p:sp>
        <p:nvSpPr>
          <p:cNvPr id="6" name="Text 3"/>
          <p:cNvSpPr/>
          <p:nvPr/>
        </p:nvSpPr>
        <p:spPr>
          <a:xfrm>
            <a:off x="457200" y="2880360"/>
            <a:ext cx="3749040" cy="36576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Added Components</a:t>
            </a:r>
            <a:endParaRPr lang="en-US" sz="1400" dirty="0"/>
          </a:p>
        </p:txBody>
      </p:sp>
      <p:sp>
        <p:nvSpPr>
          <p:cNvPr id="7" name="Text 4"/>
          <p:cNvSpPr/>
          <p:nvPr/>
        </p:nvSpPr>
        <p:spPr>
          <a:xfrm>
            <a:off x="457200" y="3291840"/>
            <a:ext cx="3749040" cy="1554480"/>
          </a:xfrm>
          <a:prstGeom prst="rect">
            <a:avLst/>
          </a:prstGeom>
          <a:noFill/>
          <a:ln/>
        </p:spPr>
        <p:txBody>
          <a:bodyPr wrap="square" rtlCol="0" anchor="ctr"/>
          <a:lstStyle/>
          <a:p>
            <a:pPr indent="0" marL="0">
              <a:buNone/>
            </a:pPr>
            <a:r>
              <a:rPr lang="en-US" sz="1200" b="1" dirty="0">
                <a:solidFill>
                  <a:srgbClr val="E2F0F7"/>
                </a:solidFill>
                <a:latin typeface="Calibri" pitchFamily="34" charset="0"/>
                <a:ea typeface="Calibri" pitchFamily="34" charset="-122"/>
                <a:cs typeface="Calibri" pitchFamily="34" charset="-120"/>
              </a:rPr>
              <a:t>R7, R8 (Series resistors): </a:t>
            </a:r>
            <a:pPr indent="0" marL="0">
              <a:buNone/>
            </a:pPr>
            <a:r>
              <a:rPr lang="en-US" sz="1200" dirty="0">
                <a:solidFill>
                  <a:srgbClr val="E2F0F7"/>
                </a:solidFill>
                <a:latin typeface="Calibri" pitchFamily="34" charset="0"/>
                <a:ea typeface="Calibri" pitchFamily="34" charset="-122"/>
                <a:cs typeface="Calibri" pitchFamily="34" charset="-120"/>
              </a:rPr>
              <a:t>10 Ω each, on CAN_H and CAN_L
</a:t>
            </a:r>
            <a:pPr indent="0" marL="0">
              <a:buNone/>
            </a:pPr>
            <a:r>
              <a:rPr lang="en-US" sz="1200" b="1" dirty="0">
                <a:solidFill>
                  <a:srgbClr val="E2F0F7"/>
                </a:solidFill>
                <a:latin typeface="Calibri" pitchFamily="34" charset="0"/>
                <a:ea typeface="Calibri" pitchFamily="34" charset="-122"/>
                <a:cs typeface="Calibri" pitchFamily="34" charset="-120"/>
              </a:rPr>
              <a:t>C4, C5 (Shunt capacitors): </a:t>
            </a:r>
            <a:pPr indent="0" marL="0">
              <a:buNone/>
            </a:pPr>
            <a:r>
              <a:rPr lang="en-US" sz="1200" dirty="0">
                <a:solidFill>
                  <a:srgbClr val="E2F0F7"/>
                </a:solidFill>
                <a:latin typeface="Calibri" pitchFamily="34" charset="0"/>
                <a:ea typeface="Calibri" pitchFamily="34" charset="-122"/>
                <a:cs typeface="Calibri" pitchFamily="34" charset="-120"/>
              </a:rPr>
              <a:t>470 pF each, to GND (after the 10 Ω resistors)
</a:t>
            </a:r>
            <a:pPr indent="0" marL="0">
              <a:buNone/>
            </a:pPr>
            <a:r>
              <a:rPr lang="en-US" sz="1200" b="1" dirty="0">
                <a:solidFill>
                  <a:srgbClr val="E2F0F7"/>
                </a:solidFill>
                <a:latin typeface="Calibri" pitchFamily="34" charset="0"/>
                <a:ea typeface="Calibri" pitchFamily="34" charset="-122"/>
                <a:cs typeface="Calibri" pitchFamily="34" charset="-120"/>
              </a:rPr>
              <a:t>R9 (Termination): </a:t>
            </a:r>
            <a:pPr indent="0" marL="0">
              <a:buNone/>
            </a:pPr>
            <a:r>
              <a:rPr lang="en-US" sz="1200" dirty="0">
                <a:solidFill>
                  <a:srgbClr val="E2F0F7"/>
                </a:solidFill>
                <a:latin typeface="Calibri" pitchFamily="34" charset="0"/>
                <a:ea typeface="Calibri" pitchFamily="34" charset="-122"/>
                <a:cs typeface="Calibri" pitchFamily="34" charset="-120"/>
              </a:rPr>
              <a:t>120 Ω at end of filter network</a:t>
            </a:r>
            <a:endParaRPr lang="en-US" sz="1200" dirty="0"/>
          </a:p>
        </p:txBody>
      </p:sp>
      <p:sp>
        <p:nvSpPr>
          <p:cNvPr id="8" name="Shape 5"/>
          <p:cNvSpPr/>
          <p:nvPr/>
        </p:nvSpPr>
        <p:spPr>
          <a:xfrm>
            <a:off x="4617720" y="2834640"/>
            <a:ext cx="4206240" cy="2103120"/>
          </a:xfrm>
          <a:prstGeom prst="rect">
            <a:avLst/>
          </a:prstGeom>
          <a:solidFill>
            <a:srgbClr val="112240"/>
          </a:solidFill>
          <a:ln w="12700">
            <a:solidFill>
              <a:srgbClr val="F59E0B"/>
            </a:solidFill>
            <a:prstDash val="solid"/>
          </a:ln>
        </p:spPr>
      </p:sp>
      <p:sp>
        <p:nvSpPr>
          <p:cNvPr id="9" name="Text 6"/>
          <p:cNvSpPr/>
          <p:nvPr/>
        </p:nvSpPr>
        <p:spPr>
          <a:xfrm>
            <a:off x="4800600" y="2880360"/>
            <a:ext cx="3840480" cy="36576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Mechanism: Low-Pass Filtering</a:t>
            </a:r>
            <a:endParaRPr lang="en-US" sz="1400" dirty="0"/>
          </a:p>
        </p:txBody>
      </p:sp>
      <p:sp>
        <p:nvSpPr>
          <p:cNvPr id="10" name="Text 7"/>
          <p:cNvSpPr/>
          <p:nvPr/>
        </p:nvSpPr>
        <p:spPr>
          <a:xfrm>
            <a:off x="4800600" y="3291840"/>
            <a:ext cx="3840480" cy="1554480"/>
          </a:xfrm>
          <a:prstGeom prst="rect">
            <a:avLst/>
          </a:prstGeom>
          <a:noFill/>
          <a:ln/>
        </p:spPr>
        <p:txBody>
          <a:bodyPr wrap="square" rtlCol="0" anchor="ctr"/>
          <a:lstStyle/>
          <a:p>
            <a:pPr indent="0" marL="0">
              <a:buNone/>
            </a:pPr>
            <a:r>
              <a:rPr lang="en-US" sz="1200" dirty="0">
                <a:solidFill>
                  <a:srgbClr val="E2F0F7"/>
                </a:solidFill>
                <a:latin typeface="Calibri" pitchFamily="34" charset="0"/>
                <a:ea typeface="Calibri" pitchFamily="34" charset="-122"/>
                <a:cs typeface="Calibri" pitchFamily="34" charset="-120"/>
              </a:rPr>
              <a:t>The 10 Ω + 470 pF network forms a low-pass filter. Cutoff frequency:</a:t>
            </a:r>
            <a:endParaRPr lang="en-US" sz="1200" dirty="0"/>
          </a:p>
          <a:p>
            <a:pPr indent="0" marL="0">
              <a:buNone/>
            </a:pPr>
            <a:endParaRPr lang="en-US" sz="1200" dirty="0"/>
          </a:p>
          <a:p>
            <a:pPr indent="0" marL="0">
              <a:buNone/>
            </a:pPr>
            <a:r>
              <a:rPr lang="en-US" sz="1200" dirty="0">
                <a:solidFill>
                  <a:srgbClr val="E2F0F7"/>
                </a:solidFill>
                <a:latin typeface="Calibri" pitchFamily="34" charset="0"/>
                <a:ea typeface="Calibri" pitchFamily="34" charset="-122"/>
                <a:cs typeface="Calibri" pitchFamily="34" charset="-120"/>
              </a:rPr>
              <a:t>  f_c = 1 / (2π × R × C) ≈ 33.8 MHz</a:t>
            </a:r>
            <a:endParaRPr lang="en-US" sz="1200" dirty="0"/>
          </a:p>
          <a:p>
            <a:pPr indent="0" marL="0">
              <a:buNone/>
            </a:pPr>
            <a:endParaRPr lang="en-US" sz="1200" dirty="0"/>
          </a:p>
          <a:p>
            <a:pPr indent="0" marL="0">
              <a:buNone/>
            </a:pPr>
            <a:r>
              <a:rPr lang="en-US" sz="1200" dirty="0">
                <a:solidFill>
                  <a:srgbClr val="E2F0F7"/>
                </a:solidFill>
                <a:latin typeface="Calibri" pitchFamily="34" charset="0"/>
                <a:ea typeface="Calibri" pitchFamily="34" charset="-122"/>
                <a:cs typeface="Calibri" pitchFamily="34" charset="-120"/>
              </a:rPr>
              <a:t>High-frequency switching transients (GHz-range harmonics from 10 ns edges) are shunted to ground. The slower 1 Mbps CAN data passes with minimal attenuation.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Approach B: RC Filter — Simulation Result</a:t>
            </a:r>
            <a:endParaRPr lang="en-US" sz="2600" dirty="0"/>
          </a:p>
        </p:txBody>
      </p:sp>
      <p:sp>
        <p:nvSpPr>
          <p:cNvPr id="3" name="Shape 1"/>
          <p:cNvSpPr/>
          <p:nvPr/>
        </p:nvSpPr>
        <p:spPr>
          <a:xfrm>
            <a:off x="365760" y="658368"/>
            <a:ext cx="2286000" cy="36576"/>
          </a:xfrm>
          <a:prstGeom prst="rect">
            <a:avLst/>
          </a:prstGeom>
          <a:solidFill>
            <a:srgbClr val="F59E0B"/>
          </a:solidFill>
          <a:ln w="12700">
            <a:solidFill>
              <a:srgbClr val="F59E0B"/>
            </a:solidFill>
            <a:prstDash val="solid"/>
          </a:ln>
        </p:spPr>
      </p:sp>
      <p:pic>
        <p:nvPicPr>
          <p:cNvPr id="4" name="Image 0" descr="preencoded.png">    </p:cNvPr>
          <p:cNvPicPr>
            <a:picLocks noChangeAspect="1"/>
          </p:cNvPicPr>
          <p:nvPr/>
        </p:nvPicPr>
        <p:blipFill>
          <a:blip r:embed="rId1"/>
          <a:srcRect l="0" r="0" t="0" b="0"/>
          <a:stretch/>
        </p:blipFill>
        <p:spPr>
          <a:xfrm>
            <a:off x="274320" y="777240"/>
            <a:ext cx="8595360" cy="3200400"/>
          </a:xfrm>
          <a:prstGeom prst="rect">
            <a:avLst/>
          </a:prstGeom>
        </p:spPr>
      </p:pic>
      <p:sp>
        <p:nvSpPr>
          <p:cNvPr id="5" name="Shape 2"/>
          <p:cNvSpPr/>
          <p:nvPr/>
        </p:nvSpPr>
        <p:spPr>
          <a:xfrm>
            <a:off x="274320" y="4114800"/>
            <a:ext cx="8595360" cy="777240"/>
          </a:xfrm>
          <a:prstGeom prst="rect">
            <a:avLst/>
          </a:prstGeom>
          <a:solidFill>
            <a:srgbClr val="112240"/>
          </a:solidFill>
          <a:ln w="12700">
            <a:solidFill>
              <a:srgbClr val="F59E0B"/>
            </a:solidFill>
            <a:prstDash val="solid"/>
          </a:ln>
        </p:spPr>
      </p:sp>
      <p:sp>
        <p:nvSpPr>
          <p:cNvPr id="6" name="Text 3"/>
          <p:cNvSpPr/>
          <p:nvPr/>
        </p:nvSpPr>
        <p:spPr>
          <a:xfrm>
            <a:off x="411480" y="4160520"/>
            <a:ext cx="8321040" cy="685800"/>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Result: </a:t>
            </a:r>
            <a:pPr indent="0" marL="0">
              <a:buNone/>
            </a:pPr>
            <a:r>
              <a:rPr lang="en-US" sz="1200" dirty="0">
                <a:solidFill>
                  <a:srgbClr val="E2F0F7"/>
                </a:solidFill>
                <a:latin typeface="Calibri" pitchFamily="34" charset="0"/>
                <a:ea typeface="Calibri" pitchFamily="34" charset="-122"/>
                <a:cs typeface="Calibri" pitchFamily="34" charset="-120"/>
              </a:rPr>
              <a:t>Peak common-mode deviation ≈ 70 mV — within the ≤ 100 mV target. Spike edges are narrower and more uniform. Slight edge rounding observed (acceptable for standard 1 Mbps CAN). Differential amplitude maintained at ~2.0 V. BER target met.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Comparative Analysis</a:t>
            </a:r>
            <a:endParaRPr lang="en-US" sz="3000" dirty="0"/>
          </a:p>
        </p:txBody>
      </p:sp>
      <p:sp>
        <p:nvSpPr>
          <p:cNvPr id="3" name="Shape 1"/>
          <p:cNvSpPr/>
          <p:nvPr/>
        </p:nvSpPr>
        <p:spPr>
          <a:xfrm>
            <a:off x="365760" y="658368"/>
            <a:ext cx="1645920" cy="36576"/>
          </a:xfrm>
          <a:prstGeom prst="rect">
            <a:avLst/>
          </a:prstGeom>
          <a:solidFill>
            <a:srgbClr val="06B6D4"/>
          </a:solidFill>
          <a:ln w="12700">
            <a:solidFill>
              <a:srgbClr val="06B6D4"/>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822960"/>
          <a:ext cx="8595360" cy="4114800"/>
        </p:xfrm>
        <a:graphic>
          <a:graphicData uri="http://schemas.openxmlformats.org/drawingml/2006/table">
            <a:tbl>
              <a:tblPr/>
              <a:tblGrid>
                <a:gridCol w="2011680"/>
                <a:gridCol w="1828800"/>
                <a:gridCol w="2377440"/>
                <a:gridCol w="237744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0E74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0E74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Shielded Cable</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0E749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RC Low-Pass Filter</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0E7490"/>
                    </a:solidFill>
                  </a:tcPr>
                </a:tc>
              </a:tr>
              <a:tr h="457200">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Peak CM Noise</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Severe spikes (FAIL)</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~75 mV ✓</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~70 mV ✓</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r h="457200">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Differential Amplitude</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Highly erratic</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~2.0 V maintained</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~2.0 V maintained</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r h="457200">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Signal Shape</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Destroyed</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Near-ideal square wave</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Damped ringing, slight rounding</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r h="457200">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BER Impact</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Catastrophic FAIL</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Meets ≤ 10⁻⁹ ✓</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Meets ≤ 10⁻⁹ ✓</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r h="457200">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Edge Preservation</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Excellent</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Slightly degraded</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r h="457200">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Key Advantage</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Best signal quality</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Cost-effective, PCB-level</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r h="457200">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Key Limitation</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Weight, ground loops</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c>
                  <a:txBody>
                    <a:bodyPr/>
                    <a:lstStyle/>
                    <a:p>
                      <a:pPr algn="ctr" indent="0" marL="0">
                        <a:buNone/>
                      </a:pPr>
                      <a:r>
                        <a:rPr lang="en-US" sz="1200" dirty="0">
                          <a:solidFill>
                            <a:srgbClr val="E2F0F7"/>
                          </a:solidFill>
                          <a:latin typeface="Calibri" pitchFamily="34" charset="0"/>
                          <a:ea typeface="Calibri" pitchFamily="34" charset="-122"/>
                          <a:cs typeface="Calibri" pitchFamily="34" charset="-120"/>
                        </a:rPr>
                        <a:t>CAN-FD edge rounding risk</a:t>
                      </a:r>
                      <a:endParaRPr lang="en-US" sz="1200" dirty="0">
                        <a:latin typeface="Calibri" charset="0"/>
                        <a:ea typeface="Calibri" charset="0"/>
                        <a:cs typeface="Calibri" charset="0"/>
                      </a:endParaRPr>
                    </a:p>
                  </a:txBody>
                  <a:tcPr marL="91440" marR="91440" marT="45720" marB="45720">
                    <a:lnL w="6350" cap="flat" cmpd="sng" algn="ctr">
                      <a:solidFill>
                        <a:srgbClr val="1E4D6B"/>
                      </a:solidFill>
                      <a:prstDash val="solid"/>
                      <a:round/>
                      <a:headEnd type="none" w="med" len="med"/>
                      <a:tailEnd type="none" w="med" len="med"/>
                    </a:lnL>
                    <a:lnR w="6350" cap="flat" cmpd="sng" algn="ctr">
                      <a:solidFill>
                        <a:srgbClr val="1E4D6B"/>
                      </a:solidFill>
                      <a:prstDash val="solid"/>
                      <a:round/>
                      <a:headEnd type="none" w="med" len="med"/>
                      <a:tailEnd type="none" w="med" len="med"/>
                    </a:lnR>
                    <a:lnT w="6350" cap="flat" cmpd="sng" algn="ctr">
                      <a:solidFill>
                        <a:srgbClr val="1E4D6B"/>
                      </a:solidFill>
                      <a:prstDash val="solid"/>
                      <a:round/>
                      <a:headEnd type="none" w="med" len="med"/>
                      <a:tailEnd type="none" w="med" len="med"/>
                    </a:lnT>
                    <a:lnB w="6350" cap="flat" cmpd="sng" algn="ctr">
                      <a:solidFill>
                        <a:srgbClr val="1E4D6B"/>
                      </a:solidFill>
                      <a:prstDash val="solid"/>
                      <a:round/>
                      <a:headEnd type="none" w="med" len="med"/>
                      <a:tailEnd type="none" w="med" len="med"/>
                    </a:lnB>
                    <a:solidFill>
                      <a:srgbClr val="112240"/>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137"/>
        </a:solidFill>
      </p:bgPr>
    </p:bg>
    <p:spTree>
      <p:nvGrpSpPr>
        <p:cNvPr id="1" name=""/>
        <p:cNvGrpSpPr/>
        <p:nvPr/>
      </p:nvGrpSpPr>
      <p:grpSpPr>
        <a:xfrm>
          <a:off x="0" y="0"/>
          <a:ext cx="0" cy="0"/>
          <a:chOff x="0" y="0"/>
          <a:chExt cx="0" cy="0"/>
        </a:xfrm>
      </p:grpSpPr>
      <p:sp>
        <p:nvSpPr>
          <p:cNvPr id="2" name="Text 0"/>
          <p:cNvSpPr/>
          <p:nvPr/>
        </p:nvSpPr>
        <p:spPr>
          <a:xfrm>
            <a:off x="365760" y="137160"/>
            <a:ext cx="841248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Critical Discussion &amp; Trade-offs</a:t>
            </a:r>
            <a:endParaRPr lang="en-US" sz="2800" dirty="0"/>
          </a:p>
        </p:txBody>
      </p:sp>
      <p:sp>
        <p:nvSpPr>
          <p:cNvPr id="3" name="Shape 1"/>
          <p:cNvSpPr/>
          <p:nvPr/>
        </p:nvSpPr>
        <p:spPr>
          <a:xfrm>
            <a:off x="365760" y="658368"/>
            <a:ext cx="2103120" cy="36576"/>
          </a:xfrm>
          <a:prstGeom prst="rect">
            <a:avLst/>
          </a:prstGeom>
          <a:solidFill>
            <a:srgbClr val="06B6D4"/>
          </a:solidFill>
          <a:ln w="12700">
            <a:solidFill>
              <a:srgbClr val="06B6D4"/>
            </a:solidFill>
            <a:prstDash val="solid"/>
          </a:ln>
        </p:spPr>
      </p:sp>
      <p:sp>
        <p:nvSpPr>
          <p:cNvPr id="4" name="Shape 2"/>
          <p:cNvSpPr/>
          <p:nvPr/>
        </p:nvSpPr>
        <p:spPr>
          <a:xfrm>
            <a:off x="274320" y="822960"/>
            <a:ext cx="4114800" cy="4069080"/>
          </a:xfrm>
          <a:prstGeom prst="rect">
            <a:avLst/>
          </a:prstGeom>
          <a:solidFill>
            <a:srgbClr val="112240"/>
          </a:solidFill>
          <a:ln w="12700">
            <a:solidFill>
              <a:srgbClr val="F59E0B"/>
            </a:solidFill>
            <a:prstDash val="solid"/>
          </a:ln>
        </p:spPr>
      </p:sp>
      <p:sp>
        <p:nvSpPr>
          <p:cNvPr id="5" name="Shape 3"/>
          <p:cNvSpPr/>
          <p:nvPr/>
        </p:nvSpPr>
        <p:spPr>
          <a:xfrm>
            <a:off x="274320" y="822960"/>
            <a:ext cx="4114800" cy="365760"/>
          </a:xfrm>
          <a:prstGeom prst="rect">
            <a:avLst/>
          </a:prstGeom>
          <a:solidFill>
            <a:srgbClr val="F59E0B"/>
          </a:solidFill>
          <a:ln w="12700">
            <a:solidFill>
              <a:srgbClr val="F59E0B"/>
            </a:solidFill>
            <a:prstDash val="solid"/>
          </a:ln>
        </p:spPr>
      </p:sp>
      <p:sp>
        <p:nvSpPr>
          <p:cNvPr id="6" name="Text 4"/>
          <p:cNvSpPr/>
          <p:nvPr/>
        </p:nvSpPr>
        <p:spPr>
          <a:xfrm>
            <a:off x="365760" y="822960"/>
            <a:ext cx="3931920" cy="36576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RC Filter — Limitations</a:t>
            </a:r>
            <a:endParaRPr lang="en-US" sz="1300" dirty="0"/>
          </a:p>
        </p:txBody>
      </p:sp>
      <p:sp>
        <p:nvSpPr>
          <p:cNvPr id="7" name="Text 5"/>
          <p:cNvSpPr/>
          <p:nvPr/>
        </p:nvSpPr>
        <p:spPr>
          <a:xfrm>
            <a:off x="411480" y="1261872"/>
            <a:ext cx="3840480" cy="3520440"/>
          </a:xfrm>
          <a:prstGeom prst="rect">
            <a:avLst/>
          </a:prstGeom>
          <a:noFill/>
          <a:ln/>
        </p:spPr>
        <p:txBody>
          <a:bodyPr wrap="square" rtlCol="0" anchor="ctr"/>
          <a:lstStyle/>
          <a:p>
            <a:pPr indent="0" marL="0">
              <a:buNone/>
            </a:pPr>
            <a:r>
              <a:rPr lang="en-US" sz="1200" b="1" dirty="0">
                <a:solidFill>
                  <a:srgbClr val="E2F0F7"/>
                </a:solidFill>
                <a:latin typeface="Calibri" pitchFamily="34" charset="0"/>
                <a:ea typeface="Calibri" pitchFamily="34" charset="-122"/>
                <a:cs typeface="Calibri" pitchFamily="34" charset="-120"/>
              </a:rPr>
              <a:t>1. Sluggish Edge Rates: </a:t>
            </a:r>
            <a:pPr indent="0" marL="0">
              <a:buNone/>
            </a:pPr>
            <a:r>
              <a:rPr lang="en-US" sz="1200" dirty="0">
                <a:solidFill>
                  <a:srgbClr val="E2F0F7"/>
                </a:solidFill>
                <a:latin typeface="Calibri" pitchFamily="34" charset="0"/>
                <a:ea typeface="Calibri" pitchFamily="34" charset="-122"/>
                <a:cs typeface="Calibri" pitchFamily="34" charset="-120"/>
              </a:rPr>
              <a:t>The RC time constant rounds CAN signal edges. At standard 1 Mbps this is acceptable, but for CAN-FD (2–5 Mbps), it collapses the eye diagram causing timing errors.
</a:t>
            </a:r>
            <a:pPr indent="0" marL="0">
              <a:buNone/>
            </a:pPr>
            <a:r>
              <a:rPr lang="en-US" sz="1200" b="1" dirty="0">
                <a:solidFill>
                  <a:srgbClr val="E2F0F7"/>
                </a:solidFill>
                <a:latin typeface="Calibri" pitchFamily="34" charset="0"/>
                <a:ea typeface="Calibri" pitchFamily="34" charset="-122"/>
                <a:cs typeface="Calibri" pitchFamily="34" charset="-120"/>
              </a:rPr>
              <a:t>2. Tolerance Mismatch: </a:t>
            </a:r>
            <a:pPr indent="0" marL="0">
              <a:buNone/>
            </a:pPr>
            <a:r>
              <a:rPr lang="en-US" sz="1200" dirty="0">
                <a:solidFill>
                  <a:srgbClr val="E2F0F7"/>
                </a:solidFill>
                <a:latin typeface="Calibri" pitchFamily="34" charset="0"/>
                <a:ea typeface="Calibri" pitchFamily="34" charset="-122"/>
                <a:cs typeface="Calibri" pitchFamily="34" charset="-120"/>
              </a:rPr>
              <a:t>If top and bottom RC filters drain at slightly different rates (±1–5% tolerance), common-mode noise converts into differential noise — creating data corruption.
</a:t>
            </a:r>
            <a:pPr indent="0" marL="0">
              <a:buNone/>
            </a:pPr>
            <a:r>
              <a:rPr lang="en-US" sz="1200" b="1" dirty="0">
                <a:solidFill>
                  <a:srgbClr val="E2F0F7"/>
                </a:solidFill>
                <a:latin typeface="Calibri" pitchFamily="34" charset="0"/>
                <a:ea typeface="Calibri" pitchFamily="34" charset="-122"/>
                <a:cs typeface="Calibri" pitchFamily="34" charset="-120"/>
              </a:rPr>
              <a:t>3. Cutoff Frequency: </a:t>
            </a:r>
            <a:pPr indent="0" marL="0">
              <a:buNone/>
            </a:pPr>
            <a:r>
              <a:rPr lang="en-US" sz="1200" dirty="0">
                <a:solidFill>
                  <a:srgbClr val="E2F0F7"/>
                </a:solidFill>
                <a:latin typeface="Calibri" pitchFamily="34" charset="0"/>
                <a:ea typeface="Calibri" pitchFamily="34" charset="-122"/>
                <a:cs typeface="Calibri" pitchFamily="34" charset="-120"/>
              </a:rPr>
              <a:t>f_c = 1/(2π×10×470pF) ≈ 33.8 MHz. Must stay well above 1 MHz CAN harmonics but below the noise band.</a:t>
            </a:r>
            <a:endParaRPr lang="en-US" sz="1200" dirty="0"/>
          </a:p>
        </p:txBody>
      </p:sp>
      <p:sp>
        <p:nvSpPr>
          <p:cNvPr id="8" name="Shape 6"/>
          <p:cNvSpPr/>
          <p:nvPr/>
        </p:nvSpPr>
        <p:spPr>
          <a:xfrm>
            <a:off x="4663440" y="822960"/>
            <a:ext cx="4160520" cy="4069080"/>
          </a:xfrm>
          <a:prstGeom prst="rect">
            <a:avLst/>
          </a:prstGeom>
          <a:solidFill>
            <a:srgbClr val="112240"/>
          </a:solidFill>
          <a:ln w="12700">
            <a:solidFill>
              <a:srgbClr val="22C55E"/>
            </a:solidFill>
            <a:prstDash val="solid"/>
          </a:ln>
        </p:spPr>
      </p:sp>
      <p:sp>
        <p:nvSpPr>
          <p:cNvPr id="9" name="Shape 7"/>
          <p:cNvSpPr/>
          <p:nvPr/>
        </p:nvSpPr>
        <p:spPr>
          <a:xfrm>
            <a:off x="4663440" y="822960"/>
            <a:ext cx="4160520" cy="365760"/>
          </a:xfrm>
          <a:prstGeom prst="rect">
            <a:avLst/>
          </a:prstGeom>
          <a:solidFill>
            <a:srgbClr val="22C55E"/>
          </a:solidFill>
          <a:ln w="12700">
            <a:solidFill>
              <a:srgbClr val="22C55E"/>
            </a:solidFill>
            <a:prstDash val="solid"/>
          </a:ln>
        </p:spPr>
      </p:sp>
      <p:sp>
        <p:nvSpPr>
          <p:cNvPr id="10" name="Text 8"/>
          <p:cNvSpPr/>
          <p:nvPr/>
        </p:nvSpPr>
        <p:spPr>
          <a:xfrm>
            <a:off x="4754880" y="822960"/>
            <a:ext cx="3977640" cy="36576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Cable Shielding — Limitations</a:t>
            </a:r>
            <a:endParaRPr lang="en-US" sz="1300" dirty="0"/>
          </a:p>
        </p:txBody>
      </p:sp>
      <p:sp>
        <p:nvSpPr>
          <p:cNvPr id="11" name="Text 9"/>
          <p:cNvSpPr/>
          <p:nvPr/>
        </p:nvSpPr>
        <p:spPr>
          <a:xfrm>
            <a:off x="4800600" y="1261872"/>
            <a:ext cx="3886200" cy="3520440"/>
          </a:xfrm>
          <a:prstGeom prst="rect">
            <a:avLst/>
          </a:prstGeom>
          <a:noFill/>
          <a:ln/>
        </p:spPr>
        <p:txBody>
          <a:bodyPr wrap="square" rtlCol="0" anchor="ctr"/>
          <a:lstStyle/>
          <a:p>
            <a:pPr indent="0" marL="0">
              <a:buNone/>
            </a:pPr>
            <a:r>
              <a:rPr lang="en-US" sz="1200" b="1" dirty="0">
                <a:solidFill>
                  <a:srgbClr val="E2F0F7"/>
                </a:solidFill>
                <a:latin typeface="Calibri" pitchFamily="34" charset="0"/>
                <a:ea typeface="Calibri" pitchFamily="34" charset="-122"/>
                <a:cs typeface="Calibri" pitchFamily="34" charset="-120"/>
              </a:rPr>
              <a:t>1. Weight &amp; Cost: </a:t>
            </a:r>
            <a:pPr indent="0" marL="0">
              <a:buNone/>
            </a:pPr>
            <a:r>
              <a:rPr lang="en-US" sz="1200" dirty="0">
                <a:solidFill>
                  <a:srgbClr val="E2F0F7"/>
                </a:solidFill>
                <a:latin typeface="Calibri" pitchFamily="34" charset="0"/>
                <a:ea typeface="Calibri" pitchFamily="34" charset="-122"/>
                <a:cs typeface="Calibri" pitchFamily="34" charset="-120"/>
              </a:rPr>
              <a:t>Copper braided shielding significantly increases harness weight — a direct conflict with EV lightweighting goals that maximize battery range.
</a:t>
            </a:r>
            <a:pPr indent="0" marL="0">
              <a:buNone/>
            </a:pPr>
            <a:r>
              <a:rPr lang="en-US" sz="1200" b="1" dirty="0">
                <a:solidFill>
                  <a:srgbClr val="E2F0F7"/>
                </a:solidFill>
                <a:latin typeface="Calibri" pitchFamily="34" charset="0"/>
                <a:ea typeface="Calibri" pitchFamily="34" charset="-122"/>
                <a:cs typeface="Calibri" pitchFamily="34" charset="-120"/>
              </a:rPr>
              <a:t>2. Ground Loops: </a:t>
            </a:r>
            <a:pPr indent="0" marL="0">
              <a:buNone/>
            </a:pPr>
            <a:r>
              <a:rPr lang="en-US" sz="1200" dirty="0">
                <a:solidFill>
                  <a:srgbClr val="E2F0F7"/>
                </a:solidFill>
                <a:latin typeface="Calibri" pitchFamily="34" charset="0"/>
                <a:ea typeface="Calibri" pitchFamily="34" charset="-122"/>
                <a:cs typeface="Calibri" pitchFamily="34" charset="-120"/>
              </a:rPr>
              <a:t>If shielded both at the Motor Controller and ECU ends, any voltage potential difference between chassis ground points drives large DC currents through the shield. This can melt the cable or induce magnetic noise onto data lines.
</a:t>
            </a:r>
            <a:pPr indent="0" marL="0">
              <a:buNone/>
            </a:pPr>
            <a:r>
              <a:rPr lang="en-US" sz="1200" b="1" dirty="0">
                <a:solidFill>
                  <a:srgbClr val="E2F0F7"/>
                </a:solidFill>
                <a:latin typeface="Calibri" pitchFamily="34" charset="0"/>
                <a:ea typeface="Calibri" pitchFamily="34" charset="-122"/>
                <a:cs typeface="Calibri" pitchFamily="34" charset="-120"/>
              </a:rPr>
              <a:t>3. Connector Complexity: </a:t>
            </a:r>
            <a:pPr indent="0" marL="0">
              <a:buNone/>
            </a:pPr>
            <a:r>
              <a:rPr lang="en-US" sz="1200" dirty="0">
                <a:solidFill>
                  <a:srgbClr val="E2F0F7"/>
                </a:solidFill>
                <a:latin typeface="Calibri" pitchFamily="34" charset="0"/>
                <a:ea typeface="Calibri" pitchFamily="34" charset="-122"/>
                <a:cs typeface="Calibri" pitchFamily="34" charset="-120"/>
              </a:rPr>
              <a:t>STP connectors are more expensive and require careful grounding strategy (single-point vs multi-point).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w="12700">
            <a:solidFill>
              <a:srgbClr val="06B6D4"/>
            </a:solidFill>
            <a:prstDash val="solid"/>
          </a:ln>
        </p:spPr>
      </p:sp>
      <p:sp>
        <p:nvSpPr>
          <p:cNvPr id="3" name="Text 1"/>
          <p:cNvSpPr/>
          <p:nvPr/>
        </p:nvSpPr>
        <p:spPr>
          <a:xfrm>
            <a:off x="365760" y="182880"/>
            <a:ext cx="8412480" cy="64008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4" name="Shape 2"/>
          <p:cNvSpPr/>
          <p:nvPr/>
        </p:nvSpPr>
        <p:spPr>
          <a:xfrm>
            <a:off x="365760" y="795528"/>
            <a:ext cx="1097280" cy="36576"/>
          </a:xfrm>
          <a:prstGeom prst="rect">
            <a:avLst/>
          </a:prstGeom>
          <a:solidFill>
            <a:srgbClr val="06B6D4"/>
          </a:solidFill>
          <a:ln w="12700">
            <a:solidFill>
              <a:srgbClr val="06B6D4"/>
            </a:solidFill>
            <a:prstDash val="solid"/>
          </a:ln>
        </p:spPr>
      </p:sp>
      <p:sp>
        <p:nvSpPr>
          <p:cNvPr id="5" name="Shape 3"/>
          <p:cNvSpPr/>
          <p:nvPr/>
        </p:nvSpPr>
        <p:spPr>
          <a:xfrm>
            <a:off x="274320" y="960120"/>
            <a:ext cx="8595360" cy="841248"/>
          </a:xfrm>
          <a:prstGeom prst="rect">
            <a:avLst/>
          </a:prstGeom>
          <a:solidFill>
            <a:srgbClr val="112240"/>
          </a:solidFill>
          <a:ln w="12700">
            <a:solidFill>
              <a:srgbClr val="06B6D4"/>
            </a:solidFill>
            <a:prstDash val="solid"/>
          </a:ln>
        </p:spPr>
      </p:sp>
      <p:sp>
        <p:nvSpPr>
          <p:cNvPr id="6" name="Shape 4"/>
          <p:cNvSpPr/>
          <p:nvPr/>
        </p:nvSpPr>
        <p:spPr>
          <a:xfrm>
            <a:off x="274320" y="960120"/>
            <a:ext cx="502920" cy="841248"/>
          </a:xfrm>
          <a:prstGeom prst="rect">
            <a:avLst/>
          </a:prstGeom>
          <a:solidFill>
            <a:srgbClr val="06B6D4"/>
          </a:solidFill>
          <a:ln w="12700">
            <a:solidFill>
              <a:srgbClr val="06B6D4"/>
            </a:solidFill>
            <a:prstDash val="solid"/>
          </a:ln>
        </p:spPr>
      </p:sp>
      <p:sp>
        <p:nvSpPr>
          <p:cNvPr id="7" name="Text 5"/>
          <p:cNvSpPr/>
          <p:nvPr/>
        </p:nvSpPr>
        <p:spPr>
          <a:xfrm>
            <a:off x="274320" y="960120"/>
            <a:ext cx="502920" cy="841248"/>
          </a:xfrm>
          <a:prstGeom prst="rect">
            <a:avLst/>
          </a:prstGeom>
          <a:noFill/>
          <a:ln/>
        </p:spPr>
        <p:txBody>
          <a:bodyPr wrap="square"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868680" y="1033272"/>
            <a:ext cx="7863840" cy="274320"/>
          </a:xfrm>
          <a:prstGeom prst="rect">
            <a:avLst/>
          </a:prstGeom>
          <a:noFill/>
          <a:ln/>
        </p:spPr>
        <p:txBody>
          <a:bodyPr wrap="square" rtlCol="0" anchor="ctr"/>
          <a:lstStyle/>
          <a:p>
            <a:pPr indent="0" marL="0">
              <a:buNone/>
            </a:pPr>
            <a:r>
              <a:rPr lang="en-US" sz="1300" b="1" dirty="0">
                <a:solidFill>
                  <a:srgbClr val="06B6D4"/>
                </a:solidFill>
                <a:latin typeface="Calibri" pitchFamily="34" charset="0"/>
                <a:ea typeface="Calibri" pitchFamily="34" charset="-122"/>
                <a:cs typeface="Calibri" pitchFamily="34" charset="-120"/>
              </a:rPr>
              <a:t>Both techniques succeeded</a:t>
            </a:r>
            <a:endParaRPr lang="en-US" sz="1300" dirty="0"/>
          </a:p>
        </p:txBody>
      </p:sp>
      <p:sp>
        <p:nvSpPr>
          <p:cNvPr id="9" name="Text 7"/>
          <p:cNvSpPr/>
          <p:nvPr/>
        </p:nvSpPr>
        <p:spPr>
          <a:xfrm>
            <a:off x="868680" y="1307592"/>
            <a:ext cx="7863840" cy="438912"/>
          </a:xfrm>
          <a:prstGeom prst="rect">
            <a:avLst/>
          </a:prstGeom>
          <a:noFill/>
          <a:ln/>
        </p:spPr>
        <p:txBody>
          <a:bodyPr wrap="square" rtlCol="0" anchor="ctr"/>
          <a:lstStyle/>
          <a:p>
            <a:pPr indent="0" marL="0">
              <a:buNone/>
            </a:pPr>
            <a:r>
              <a:rPr lang="en-US" sz="1200" dirty="0">
                <a:solidFill>
                  <a:srgbClr val="E2F0F7"/>
                </a:solidFill>
                <a:latin typeface="Calibri" pitchFamily="34" charset="0"/>
                <a:ea typeface="Calibri" pitchFamily="34" charset="-122"/>
                <a:cs typeface="Calibri" pitchFamily="34" charset="-120"/>
              </a:rPr>
              <a:t>Shielded cable (~75 mV peak) and RC low-pass filter (~70 mV peak) both meet the ≤ 100 mV common-mode noise requirement.</a:t>
            </a:r>
            <a:endParaRPr lang="en-US" sz="1200" dirty="0"/>
          </a:p>
        </p:txBody>
      </p:sp>
      <p:sp>
        <p:nvSpPr>
          <p:cNvPr id="10" name="Shape 8"/>
          <p:cNvSpPr/>
          <p:nvPr/>
        </p:nvSpPr>
        <p:spPr>
          <a:xfrm>
            <a:off x="274320" y="1947672"/>
            <a:ext cx="8595360" cy="841248"/>
          </a:xfrm>
          <a:prstGeom prst="rect">
            <a:avLst/>
          </a:prstGeom>
          <a:solidFill>
            <a:srgbClr val="112240"/>
          </a:solidFill>
          <a:ln w="12700">
            <a:solidFill>
              <a:srgbClr val="22C55E"/>
            </a:solidFill>
            <a:prstDash val="solid"/>
          </a:ln>
        </p:spPr>
      </p:sp>
      <p:sp>
        <p:nvSpPr>
          <p:cNvPr id="11" name="Shape 9"/>
          <p:cNvSpPr/>
          <p:nvPr/>
        </p:nvSpPr>
        <p:spPr>
          <a:xfrm>
            <a:off x="274320" y="1947672"/>
            <a:ext cx="502920" cy="841248"/>
          </a:xfrm>
          <a:prstGeom prst="rect">
            <a:avLst/>
          </a:prstGeom>
          <a:solidFill>
            <a:srgbClr val="22C55E"/>
          </a:solidFill>
          <a:ln w="12700">
            <a:solidFill>
              <a:srgbClr val="22C55E"/>
            </a:solidFill>
            <a:prstDash val="solid"/>
          </a:ln>
        </p:spPr>
      </p:sp>
      <p:sp>
        <p:nvSpPr>
          <p:cNvPr id="12" name="Text 10"/>
          <p:cNvSpPr/>
          <p:nvPr/>
        </p:nvSpPr>
        <p:spPr>
          <a:xfrm>
            <a:off x="274320" y="1947672"/>
            <a:ext cx="502920" cy="841248"/>
          </a:xfrm>
          <a:prstGeom prst="rect">
            <a:avLst/>
          </a:prstGeom>
          <a:noFill/>
          <a:ln/>
        </p:spPr>
        <p:txBody>
          <a:bodyPr wrap="square"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868680" y="2020824"/>
            <a:ext cx="7863840" cy="274320"/>
          </a:xfrm>
          <a:prstGeom prst="rect">
            <a:avLst/>
          </a:prstGeom>
          <a:noFill/>
          <a:ln/>
        </p:spPr>
        <p:txBody>
          <a:bodyPr wrap="square"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Shielding: best edge quality</a:t>
            </a:r>
            <a:endParaRPr lang="en-US" sz="1300" dirty="0"/>
          </a:p>
        </p:txBody>
      </p:sp>
      <p:sp>
        <p:nvSpPr>
          <p:cNvPr id="14" name="Text 12"/>
          <p:cNvSpPr/>
          <p:nvPr/>
        </p:nvSpPr>
        <p:spPr>
          <a:xfrm>
            <a:off x="868680" y="2295144"/>
            <a:ext cx="7863840" cy="438912"/>
          </a:xfrm>
          <a:prstGeom prst="rect">
            <a:avLst/>
          </a:prstGeom>
          <a:noFill/>
          <a:ln/>
        </p:spPr>
        <p:txBody>
          <a:bodyPr wrap="square" rtlCol="0" anchor="ctr"/>
          <a:lstStyle/>
          <a:p>
            <a:pPr indent="0" marL="0">
              <a:buNone/>
            </a:pPr>
            <a:r>
              <a:rPr lang="en-US" sz="1200" dirty="0">
                <a:solidFill>
                  <a:srgbClr val="E2F0F7"/>
                </a:solidFill>
                <a:latin typeface="Calibri" pitchFamily="34" charset="0"/>
                <a:ea typeface="Calibri" pitchFamily="34" charset="-122"/>
                <a:cs typeface="Calibri" pitchFamily="34" charset="-120"/>
              </a:rPr>
              <a:t>Provides near-ideal square waveform. Preferred for high-speed CAN-FD buses (2–5 Mbps) where edge rate preservation is critical.</a:t>
            </a:r>
            <a:endParaRPr lang="en-US" sz="1200" dirty="0"/>
          </a:p>
        </p:txBody>
      </p:sp>
      <p:sp>
        <p:nvSpPr>
          <p:cNvPr id="15" name="Shape 13"/>
          <p:cNvSpPr/>
          <p:nvPr/>
        </p:nvSpPr>
        <p:spPr>
          <a:xfrm>
            <a:off x="274320" y="2935224"/>
            <a:ext cx="8595360" cy="841248"/>
          </a:xfrm>
          <a:prstGeom prst="rect">
            <a:avLst/>
          </a:prstGeom>
          <a:solidFill>
            <a:srgbClr val="112240"/>
          </a:solidFill>
          <a:ln w="12700">
            <a:solidFill>
              <a:srgbClr val="F59E0B"/>
            </a:solidFill>
            <a:prstDash val="solid"/>
          </a:ln>
        </p:spPr>
      </p:sp>
      <p:sp>
        <p:nvSpPr>
          <p:cNvPr id="16" name="Shape 14"/>
          <p:cNvSpPr/>
          <p:nvPr/>
        </p:nvSpPr>
        <p:spPr>
          <a:xfrm>
            <a:off x="274320" y="2935224"/>
            <a:ext cx="502920" cy="841248"/>
          </a:xfrm>
          <a:prstGeom prst="rect">
            <a:avLst/>
          </a:prstGeom>
          <a:solidFill>
            <a:srgbClr val="F59E0B"/>
          </a:solidFill>
          <a:ln w="12700">
            <a:solidFill>
              <a:srgbClr val="F59E0B"/>
            </a:solidFill>
            <a:prstDash val="solid"/>
          </a:ln>
        </p:spPr>
      </p:sp>
      <p:sp>
        <p:nvSpPr>
          <p:cNvPr id="17" name="Text 15"/>
          <p:cNvSpPr/>
          <p:nvPr/>
        </p:nvSpPr>
        <p:spPr>
          <a:xfrm>
            <a:off x="274320" y="2935224"/>
            <a:ext cx="502920" cy="841248"/>
          </a:xfrm>
          <a:prstGeom prst="rect">
            <a:avLst/>
          </a:prstGeom>
          <a:noFill/>
          <a:ln/>
        </p:spPr>
        <p:txBody>
          <a:bodyPr wrap="square"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868680" y="3008376"/>
            <a:ext cx="7863840" cy="274320"/>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RC Filter: cost-effective</a:t>
            </a:r>
            <a:endParaRPr lang="en-US" sz="1300" dirty="0"/>
          </a:p>
        </p:txBody>
      </p:sp>
      <p:sp>
        <p:nvSpPr>
          <p:cNvPr id="19" name="Text 17"/>
          <p:cNvSpPr/>
          <p:nvPr/>
        </p:nvSpPr>
        <p:spPr>
          <a:xfrm>
            <a:off x="868680" y="3282696"/>
            <a:ext cx="7863840" cy="438912"/>
          </a:xfrm>
          <a:prstGeom prst="rect">
            <a:avLst/>
          </a:prstGeom>
          <a:noFill/>
          <a:ln/>
        </p:spPr>
        <p:txBody>
          <a:bodyPr wrap="square" rtlCol="0" anchor="ctr"/>
          <a:lstStyle/>
          <a:p>
            <a:pPr indent="0" marL="0">
              <a:buNone/>
            </a:pPr>
            <a:r>
              <a:rPr lang="en-US" sz="1200" dirty="0">
                <a:solidFill>
                  <a:srgbClr val="E2F0F7"/>
                </a:solidFill>
                <a:latin typeface="Calibri" pitchFamily="34" charset="0"/>
                <a:ea typeface="Calibri" pitchFamily="34" charset="-122"/>
                <a:cs typeface="Calibri" pitchFamily="34" charset="-120"/>
              </a:rPr>
              <a:t>Lighter, PCB-level solution with no cabling overhead. Best suited for standard 1 Mbps CAN with tight weight budgets.</a:t>
            </a:r>
            <a:endParaRPr lang="en-US" sz="1200" dirty="0"/>
          </a:p>
        </p:txBody>
      </p:sp>
      <p:sp>
        <p:nvSpPr>
          <p:cNvPr id="20" name="Shape 18"/>
          <p:cNvSpPr/>
          <p:nvPr/>
        </p:nvSpPr>
        <p:spPr>
          <a:xfrm>
            <a:off x="274320" y="3922776"/>
            <a:ext cx="8595360" cy="841248"/>
          </a:xfrm>
          <a:prstGeom prst="rect">
            <a:avLst/>
          </a:prstGeom>
          <a:solidFill>
            <a:srgbClr val="112240"/>
          </a:solidFill>
          <a:ln w="12700">
            <a:solidFill>
              <a:srgbClr val="0E7490"/>
            </a:solidFill>
            <a:prstDash val="solid"/>
          </a:ln>
        </p:spPr>
      </p:sp>
      <p:sp>
        <p:nvSpPr>
          <p:cNvPr id="21" name="Shape 19"/>
          <p:cNvSpPr/>
          <p:nvPr/>
        </p:nvSpPr>
        <p:spPr>
          <a:xfrm>
            <a:off x="274320" y="3922776"/>
            <a:ext cx="502920" cy="841248"/>
          </a:xfrm>
          <a:prstGeom prst="rect">
            <a:avLst/>
          </a:prstGeom>
          <a:solidFill>
            <a:srgbClr val="0E7490"/>
          </a:solidFill>
          <a:ln w="12700">
            <a:solidFill>
              <a:srgbClr val="0E7490"/>
            </a:solidFill>
            <a:prstDash val="solid"/>
          </a:ln>
        </p:spPr>
      </p:sp>
      <p:sp>
        <p:nvSpPr>
          <p:cNvPr id="22" name="Text 20"/>
          <p:cNvSpPr/>
          <p:nvPr/>
        </p:nvSpPr>
        <p:spPr>
          <a:xfrm>
            <a:off x="274320" y="3922776"/>
            <a:ext cx="502920" cy="841248"/>
          </a:xfrm>
          <a:prstGeom prst="rect">
            <a:avLst/>
          </a:prstGeom>
          <a:noFill/>
          <a:ln/>
        </p:spPr>
        <p:txBody>
          <a:bodyPr wrap="square"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868680" y="3995928"/>
            <a:ext cx="7863840" cy="274320"/>
          </a:xfrm>
          <a:prstGeom prst="rect">
            <a:avLst/>
          </a:prstGeom>
          <a:noFill/>
          <a:ln/>
        </p:spPr>
        <p:txBody>
          <a:bodyPr wrap="square" rtlCol="0" anchor="ctr"/>
          <a:lstStyle/>
          <a:p>
            <a:pPr indent="0" marL="0">
              <a:buNone/>
            </a:pPr>
            <a:r>
              <a:rPr lang="en-US" sz="1300" b="1" dirty="0">
                <a:solidFill>
                  <a:srgbClr val="0E7490"/>
                </a:solidFill>
                <a:latin typeface="Calibri" pitchFamily="34" charset="0"/>
                <a:ea typeface="Calibri" pitchFamily="34" charset="-122"/>
                <a:cs typeface="Calibri" pitchFamily="34" charset="-120"/>
              </a:rPr>
              <a:t>Choose based on system needs</a:t>
            </a:r>
            <a:endParaRPr lang="en-US" sz="1300" dirty="0"/>
          </a:p>
        </p:txBody>
      </p:sp>
      <p:sp>
        <p:nvSpPr>
          <p:cNvPr id="24" name="Text 22"/>
          <p:cNvSpPr/>
          <p:nvPr/>
        </p:nvSpPr>
        <p:spPr>
          <a:xfrm>
            <a:off x="868680" y="4270248"/>
            <a:ext cx="7863840" cy="438912"/>
          </a:xfrm>
          <a:prstGeom prst="rect">
            <a:avLst/>
          </a:prstGeom>
          <a:noFill/>
          <a:ln/>
        </p:spPr>
        <p:txBody>
          <a:bodyPr wrap="square" rtlCol="0" anchor="ctr"/>
          <a:lstStyle/>
          <a:p>
            <a:pPr indent="0" marL="0">
              <a:buNone/>
            </a:pPr>
            <a:r>
              <a:rPr lang="en-US" sz="1200" dirty="0">
                <a:solidFill>
                  <a:srgbClr val="E2F0F7"/>
                </a:solidFill>
                <a:latin typeface="Calibri" pitchFamily="34" charset="0"/>
                <a:ea typeface="Calibri" pitchFamily="34" charset="-122"/>
                <a:cs typeface="Calibri" pitchFamily="34" charset="-120"/>
              </a:rPr>
              <a:t>Selection depends on bus baud rate, EV weight budget, harness routing constraints, and EMC certification targets (CISPR 25, ISO 11452).</a:t>
            </a:r>
            <a:endParaRPr lang="en-US" sz="1200" dirty="0"/>
          </a:p>
        </p:txBody>
      </p:sp>
      <p:sp>
        <p:nvSpPr>
          <p:cNvPr id="25" name="Shape 23"/>
          <p:cNvSpPr/>
          <p:nvPr/>
        </p:nvSpPr>
        <p:spPr>
          <a:xfrm>
            <a:off x="0" y="5088636"/>
            <a:ext cx="9144000" cy="54864"/>
          </a:xfrm>
          <a:prstGeom prst="rect">
            <a:avLst/>
          </a:prstGeom>
          <a:solidFill>
            <a:srgbClr val="06B6D4"/>
          </a:solidFill>
          <a:ln w="12700">
            <a:solidFill>
              <a:srgbClr val="06B6D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Bus Signal Integrity under High-Voltage Transients</dc:title>
  <dc:subject>PptxGenJS Presentation</dc:subject>
  <dc:creator>Arka Kar</dc:creator>
  <cp:lastModifiedBy>Arka Kar</cp:lastModifiedBy>
  <cp:revision>1</cp:revision>
  <dcterms:created xsi:type="dcterms:W3CDTF">2026-04-15T18:36:25Z</dcterms:created>
  <dcterms:modified xsi:type="dcterms:W3CDTF">2026-04-15T18:36:25Z</dcterms:modified>
</cp:coreProperties>
</file>